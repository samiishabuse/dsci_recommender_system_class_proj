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Space Grotesk Light"/>
      <p:regular r:id="rId28"/>
      <p:bold r:id="rId29"/>
    </p:embeddedFont>
    <p:embeddedFont>
      <p:font typeface="Space Grotesk Medium"/>
      <p:regular r:id="rId30"/>
      <p:bold r:id="rId31"/>
    </p:embeddedFont>
    <p:embeddedFont>
      <p:font typeface="Space Grotesk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SpaceGroteskLigh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SpaceGroteskLigh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Medium-bold.fntdata"/><Relationship Id="rId30" Type="http://schemas.openxmlformats.org/officeDocument/2006/relationships/font" Target="fonts/SpaceGroteskMedium-regular.fntdata"/><Relationship Id="rId11" Type="http://schemas.openxmlformats.org/officeDocument/2006/relationships/slide" Target="slides/slide5.xml"/><Relationship Id="rId33" Type="http://schemas.openxmlformats.org/officeDocument/2006/relationships/font" Target="fonts/SpaceGrotesk-bold.fntdata"/><Relationship Id="rId10" Type="http://schemas.openxmlformats.org/officeDocument/2006/relationships/slide" Target="slides/slide4.xml"/><Relationship Id="rId32" Type="http://schemas.openxmlformats.org/officeDocument/2006/relationships/font" Target="fonts/SpaceGrotes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829376ef6_1_3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e829376ef6_1_3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e829376ef6_1_3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e829376ef6_1_3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829376ef6_1_3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e829376ef6_1_3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829376ef6_1_3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e829376ef6_1_3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e829376ef6_1_3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e829376ef6_1_3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e829376ef6_1_3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e829376ef6_1_3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829376ef6_1_3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e829376ef6_1_3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e829376ef6_1_3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e829376ef6_1_3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e829376ef6_1_3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e829376ef6_1_3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829376ef6_1_3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e829376ef6_1_3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e829376ef6_1_3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e829376ef6_1_3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e829376ef6_1_3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e829376ef6_1_3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e829376ef6_1_3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e829376ef6_1_3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e829376ef6_1_3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e829376ef6_1_3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e829376ef6_1_3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e829376ef6_1_3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829376ef6_1_3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e829376ef6_1_3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e829376ef6_1_3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e829376ef6_1_3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3e829376ef6_1_3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3e829376ef6_1_3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e829376ef6_1_3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e829376ef6_1_3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Metadata Only (No Visuals):</a:t>
            </a:r>
            <a:r>
              <a:rPr lang="en">
                <a:solidFill>
                  <a:schemeClr val="dk1"/>
                </a:solidFill>
              </a:rPr>
              <a:t> The models rely strictly on text data (captions, hashtags, posting times) and completely ignore the actual image or video pixels, which are massive drivers of Instagram success.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</a:t>
            </a:r>
            <a:r>
              <a:rPr b="1" lang="en">
                <a:solidFill>
                  <a:schemeClr val="dk1"/>
                </a:solidFill>
              </a:rPr>
              <a:t>Computer Vision Integration:</a:t>
            </a:r>
            <a:r>
              <a:rPr lang="en">
                <a:solidFill>
                  <a:schemeClr val="dk1"/>
                </a:solidFill>
              </a:rPr>
              <a:t> Incorporate pre-trained visual models (like ResNet or CLIP) to analyze image aesthetics, color palettes, and video features alongside text metadata.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Synthetic Local Data Scale:</a:t>
            </a:r>
            <a:r>
              <a:rPr lang="en">
                <a:solidFill>
                  <a:schemeClr val="dk1"/>
                </a:solidFill>
              </a:rPr>
              <a:t> Due to the massive 189 GB size of the raw dataset, local testing was constrained to synthetic data generated from real profile structures rather than full real post-history runs.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</a:t>
            </a:r>
            <a:r>
              <a:rPr b="1" lang="en">
                <a:solidFill>
                  <a:schemeClr val="dk1"/>
                </a:solidFill>
              </a:rPr>
              <a:t>Real-Time Streaming Recommendations:</a:t>
            </a:r>
            <a:r>
              <a:rPr lang="en">
                <a:solidFill>
                  <a:schemeClr val="dk1"/>
                </a:solidFill>
              </a:rPr>
              <a:t> Upgrade from batch-processed offline recommendations to an active system that updates daily to capture instant, hyper-viral platform trends.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>
                <a:solidFill>
                  <a:schemeClr val="dk1"/>
                </a:solidFill>
              </a:rPr>
              <a:t>Correlation vs. Causation:</a:t>
            </a:r>
            <a:r>
              <a:rPr lang="en">
                <a:solidFill>
                  <a:schemeClr val="dk1"/>
                </a:solidFill>
              </a:rPr>
              <a:t> A high engagement score simply shows a pattern that worked in the past. It does not guarantee that using the strategy </a:t>
            </a:r>
            <a:r>
              <a:rPr i="1" lang="en">
                <a:solidFill>
                  <a:schemeClr val="dk1"/>
                </a:solidFill>
              </a:rPr>
              <a:t>causes</a:t>
            </a:r>
            <a:r>
              <a:rPr lang="en">
                <a:solidFill>
                  <a:schemeClr val="dk1"/>
                </a:solidFill>
              </a:rPr>
              <a:t> virality, as external real-world trends or creator fame are unmeasured factors.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→ </a:t>
            </a:r>
            <a:r>
              <a:rPr b="1" lang="en">
                <a:solidFill>
                  <a:schemeClr val="dk1"/>
                </a:solidFill>
              </a:rPr>
              <a:t>Live A/B Testing:</a:t>
            </a:r>
            <a:r>
              <a:rPr lang="en">
                <a:solidFill>
                  <a:schemeClr val="dk1"/>
                </a:solidFill>
              </a:rPr>
              <a:t> Deploy the top recommended strategy strings to a test cohort of real influencers to monitor actual engagement growth and prove true causal impact.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e829376ef6_1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e829376ef6_1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e829376ef6_1_3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e829376ef6_1_3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TITLE_1_2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title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4" type="title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59" name="Google Shape;59;p14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60" name="Google Shape;60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8" name="Google Shape;68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6" name="Google Shape;76;p14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orient="horz" pos="2772">
          <p15:clr>
            <a:srgbClr val="E46962"/>
          </p15:clr>
        </p15:guide>
        <p15:guide id="4" pos="5292">
          <p15:clr>
            <a:srgbClr val="E46962"/>
          </p15:clr>
        </p15:guide>
        <p15:guide id="5" pos="468">
          <p15:clr>
            <a:srgbClr val="E46962"/>
          </p15:clr>
        </p15:guide>
        <p15:guide id="6" pos="5601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308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2772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">
  <p:cSld name="BLANK_1_1_1_1_1_1_1_1_1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100" name="Google Shape;100;p1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fmla="val 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04" name="Google Shape;104;p16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06" name="Google Shape;106;p16"/>
          <p:cNvSpPr/>
          <p:nvPr>
            <p:ph idx="2" type="pic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/>
          <p:nvPr>
            <p:ph idx="3" type="pic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2617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accen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fmla="val 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2" name="Google Shape;112;p17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115" name="Google Shape;115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20" name="Google Shape;120;p17"/>
          <p:cNvSpPr txBox="1"/>
          <p:nvPr>
            <p:ph idx="1" type="subTitle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1" name="Google Shape;121;p17"/>
          <p:cNvSpPr txBox="1"/>
          <p:nvPr>
            <p:ph idx="2" type="body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122" name="Google Shape;122;p17"/>
          <p:cNvSpPr txBox="1"/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23" name="Google Shape;123;p17"/>
          <p:cNvSpPr/>
          <p:nvPr>
            <p:ph idx="3" type="pic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ept">
  <p:cSld name="ONE_COLUMN_TEXT_1"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126" name="Google Shape;126;p1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0" name="Google Shape;130;p18"/>
          <p:cNvSpPr txBox="1"/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/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" type="body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3" type="body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">
    <p:bg>
      <p:bgPr>
        <a:solidFill>
          <a:schemeClr val="accen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>
            <p:ph idx="2" type="pic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" name="Google Shape;136;p19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137" name="Google Shape;137;p1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4" name="Google Shape;144;p19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3" type="title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4" type="title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5" type="title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50" name="Google Shape;150;p19"/>
          <p:cNvSpPr/>
          <p:nvPr>
            <p:ph idx="6" type="pic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 txBox="1"/>
          <p:nvPr>
            <p:ph idx="7" type="title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- Alt 1">
  <p:cSld name="CUSTOM_1">
    <p:bg>
      <p:bgPr>
        <a:solidFill>
          <a:schemeClr val="accen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0"/>
          <p:cNvSpPr/>
          <p:nvPr>
            <p:ph idx="2" type="pic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0"/>
          <p:cNvSpPr txBox="1"/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2" name="Google Shape;162;p20"/>
          <p:cNvSpPr/>
          <p:nvPr>
            <p:ph idx="3" type="pic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0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164" name="Google Shape;164;p20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5" name="Google Shape;165;p20"/>
          <p:cNvSpPr txBox="1"/>
          <p:nvPr>
            <p:ph idx="5" type="title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6" type="title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59">
          <p15:clr>
            <a:srgbClr val="E46962"/>
          </p15:clr>
        </p15:guide>
        <p15:guide id="2" pos="159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468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468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+ image">
  <p:cSld name="BLANK_1_1_1_1_1_1_1_1_1_1_1_1_1_1_2"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69" name="Google Shape;169;p21"/>
          <p:cNvSpPr/>
          <p:nvPr>
            <p:ph idx="2" type="pic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1"/>
          <p:cNvSpPr/>
          <p:nvPr>
            <p:ph idx="3" type="pic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1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21"/>
          <p:cNvSpPr txBox="1"/>
          <p:nvPr>
            <p:ph idx="4" type="body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3" name="Google Shape;173;p21"/>
          <p:cNvSpPr txBox="1"/>
          <p:nvPr>
            <p:ph idx="5" type="body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174" name="Google Shape;174;p21"/>
          <p:cNvSpPr txBox="1"/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175" name="Google Shape;175;p21"/>
          <p:cNvSpPr txBox="1"/>
          <p:nvPr>
            <p:ph idx="6" type="subTitle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6" name="Google Shape;176;p21"/>
          <p:cNvSpPr txBox="1"/>
          <p:nvPr>
            <p:ph idx="7" type="subTitle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7" name="Google Shape;177;p21"/>
          <p:cNvSpPr txBox="1"/>
          <p:nvPr>
            <p:ph idx="8" type="subTitle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21"/>
          <p:cNvSpPr txBox="1"/>
          <p:nvPr>
            <p:ph idx="9" type="title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179" name="Google Shape;179;p21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80" name="Google Shape;180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88" name="Google Shape;188;p2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96" name="Google Shape;196;p21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1_1_1_1_1_1_1_1_1_1_2_2">
    <p:bg>
      <p:bgPr>
        <a:solidFill>
          <a:schemeClr val="accent4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/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1" type="subTitle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2" name="Google Shape;202;p22"/>
          <p:cNvSpPr txBox="1"/>
          <p:nvPr>
            <p:ph idx="2" type="subTitle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3" name="Google Shape;203;p22"/>
          <p:cNvSpPr txBox="1"/>
          <p:nvPr>
            <p:ph idx="3" type="subTitle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04" name="Google Shape;204;p22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2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/>
        </p:txBody>
      </p:sp>
      <p:grpSp>
        <p:nvGrpSpPr>
          <p:cNvPr id="206" name="Google Shape;206;p22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207" name="Google Shape;207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215" name="Google Shape;215;p22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223" name="Google Shape;223;p22"/>
            <p:cNvSpPr/>
            <p:nvPr/>
          </p:nvSpPr>
          <p:spPr>
            <a:xfrm>
              <a:off x="4062602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4174877" y="323039"/>
              <a:ext cx="37661" cy="37661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4062605" y="404350"/>
              <a:ext cx="149937" cy="3766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26" name="Google Shape;226;p22"/>
          <p:cNvSpPr txBox="1"/>
          <p:nvPr>
            <p:ph idx="5" type="body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7" name="Google Shape;227;p22"/>
          <p:cNvSpPr txBox="1"/>
          <p:nvPr>
            <p:ph idx="6" type="body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  <p:sp>
        <p:nvSpPr>
          <p:cNvPr id="228" name="Google Shape;228;p22"/>
          <p:cNvSpPr txBox="1"/>
          <p:nvPr>
            <p:ph idx="7" type="body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dk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31" name="Google Shape;231;p23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2" name="Google Shape;232;p23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4" name="Google Shape;234;p23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5" name="Google Shape;235;p23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6" name="Google Shape;236;p23"/>
          <p:cNvSpPr txBox="1"/>
          <p:nvPr>
            <p:ph idx="6" type="body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3238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indent="-323850" lvl="1" marL="914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indent="-323850" lvl="2" marL="1371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indent="-323850" lvl="3" marL="18288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indent="-323850" lvl="4" marL="22860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indent="-323850" lvl="5" marL="27432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indent="-323850" lvl="6" marL="32004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indent="-323850" lvl="7" marL="365760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indent="-323850" lvl="8" marL="411480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37" name="Google Shape;237;p23"/>
          <p:cNvSpPr txBox="1"/>
          <p:nvPr>
            <p:ph idx="7" type="body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159">
          <p15:clr>
            <a:srgbClr val="E46962"/>
          </p15:clr>
        </p15:guide>
        <p15:guide id="6" pos="5292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orient="horz" pos="159">
          <p15:clr>
            <a:srgbClr val="E46962"/>
          </p15:clr>
        </p15:guide>
        <p15:guide id="9" orient="horz" pos="59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ngo">
  <p:cSld name="BLANK_1_1_1_1_1_1_1_1_1_1_1_1_1_1_2_1_2"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idx="1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2" type="subTitle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2" name="Google Shape;242;p24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3" name="Google Shape;243;p24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4" name="Google Shape;244;p24"/>
          <p:cNvSpPr txBox="1"/>
          <p:nvPr>
            <p:ph idx="5" type="title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5" name="Google Shape;245;p24"/>
          <p:cNvSpPr txBox="1"/>
          <p:nvPr>
            <p:ph idx="6" type="title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46" name="Google Shape;246;p24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/>
        </p:txBody>
      </p:sp>
      <p:sp>
        <p:nvSpPr>
          <p:cNvPr id="249" name="Google Shape;249;p24"/>
          <p:cNvSpPr txBox="1"/>
          <p:nvPr>
            <p:ph idx="13" type="title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4" type="title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1" name="Google Shape;251;p24"/>
          <p:cNvSpPr txBox="1"/>
          <p:nvPr>
            <p:ph idx="15" type="title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2" name="Google Shape;252;p24"/>
          <p:cNvSpPr txBox="1"/>
          <p:nvPr>
            <p:ph idx="16" type="title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7" type="title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18" type="title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19" type="title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20" type="title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21" type="title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8" name="Google Shape;258;p24"/>
          <p:cNvSpPr txBox="1"/>
          <p:nvPr>
            <p:ph idx="22" type="title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59" name="Google Shape;259;p24"/>
          <p:cNvSpPr txBox="1"/>
          <p:nvPr>
            <p:ph idx="23" type="title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orient="horz" pos="2772">
          <p15:clr>
            <a:srgbClr val="E46962"/>
          </p15:clr>
        </p15:guide>
        <p15:guide id="8" pos="159">
          <p15:clr>
            <a:srgbClr val="E46962"/>
          </p15:clr>
        </p15:guide>
        <p15:guide id="9" pos="226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p">
  <p:cSld name="BLANK_1_1_1_1_1_1_1_1_1_1_1_1_1_1_1_1_2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1" type="subTitle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2" type="subTitle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/>
        </p:txBody>
      </p:sp>
      <p:grpSp>
        <p:nvGrpSpPr>
          <p:cNvPr id="264" name="Google Shape;264;p25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65" name="Google Shape;265;p25"/>
            <p:cNvSpPr/>
            <p:nvPr/>
          </p:nvSpPr>
          <p:spPr>
            <a:xfrm>
              <a:off x="1952625" y="3233400"/>
              <a:ext cx="950200" cy="1768600"/>
            </a:xfrm>
            <a:custGeom>
              <a:rect b="b" l="l" r="r" t="t"/>
              <a:pathLst>
                <a:path extrusionOk="0" h="70744" w="38008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5955875" y="3792400"/>
              <a:ext cx="756025" cy="835100"/>
            </a:xfrm>
            <a:custGeom>
              <a:rect b="b" l="l" r="r" t="t"/>
              <a:pathLst>
                <a:path extrusionOk="0" h="33404" w="30241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858775" y="3324950"/>
              <a:ext cx="283025" cy="277450"/>
            </a:xfrm>
            <a:custGeom>
              <a:rect b="b" l="l" r="r" t="t"/>
              <a:pathLst>
                <a:path extrusionOk="0" h="11098" w="11321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1762575" y="2953200"/>
              <a:ext cx="187300" cy="274675"/>
            </a:xfrm>
            <a:custGeom>
              <a:rect b="b" l="l" r="r" t="t"/>
              <a:pathLst>
                <a:path extrusionOk="0" h="10987" w="7492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6716050" y="1832400"/>
              <a:ext cx="187275" cy="277450"/>
            </a:xfrm>
            <a:custGeom>
              <a:rect b="b" l="l" r="r" t="t"/>
              <a:pathLst>
                <a:path extrusionOk="0" h="11098" w="7491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4524375" y="3886725"/>
              <a:ext cx="91575" cy="274700"/>
            </a:xfrm>
            <a:custGeom>
              <a:rect b="b" l="l" r="r" t="t"/>
              <a:pathLst>
                <a:path extrusionOk="0" h="10988" w="3663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5477325" y="807300"/>
              <a:ext cx="187300" cy="181750"/>
            </a:xfrm>
            <a:custGeom>
              <a:rect b="b" l="l" r="r" t="t"/>
              <a:pathLst>
                <a:path extrusionOk="0" h="7270" w="7492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951225" y="2765925"/>
              <a:ext cx="94350" cy="183150"/>
            </a:xfrm>
            <a:custGeom>
              <a:rect b="b" l="l" r="r" t="t"/>
              <a:pathLst>
                <a:path extrusionOk="0" h="7326" w="3774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3859925" y="900250"/>
              <a:ext cx="91575" cy="183125"/>
            </a:xfrm>
            <a:custGeom>
              <a:rect b="b" l="l" r="r" t="t"/>
              <a:pathLst>
                <a:path extrusionOk="0" h="7325" w="3663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7097500" y="4444350"/>
              <a:ext cx="92950" cy="183150"/>
            </a:xfrm>
            <a:custGeom>
              <a:rect b="b" l="l" r="r" t="t"/>
              <a:pathLst>
                <a:path extrusionOk="0" h="7326" w="3718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3477075" y="1832400"/>
              <a:ext cx="91575" cy="184525"/>
            </a:xfrm>
            <a:custGeom>
              <a:rect b="b" l="l" r="r" t="t"/>
              <a:pathLst>
                <a:path extrusionOk="0" h="7381" w="3663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3191325" y="1553575"/>
              <a:ext cx="187300" cy="88825"/>
            </a:xfrm>
            <a:custGeom>
              <a:rect b="b" l="l" r="r" t="t"/>
              <a:pathLst>
                <a:path extrusionOk="0" h="3553" w="7492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6430275" y="3605150"/>
              <a:ext cx="187300" cy="90200"/>
            </a:xfrm>
            <a:custGeom>
              <a:rect b="b" l="l" r="r" t="t"/>
              <a:pathLst>
                <a:path extrusionOk="0" h="3608" w="7492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6240250" y="3513600"/>
              <a:ext cx="187300" cy="88800"/>
            </a:xfrm>
            <a:custGeom>
              <a:rect b="b" l="l" r="r" t="t"/>
              <a:pathLst>
                <a:path extrusionOk="0" h="3552" w="7492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2142650" y="29532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4048575" y="898875"/>
              <a:ext cx="92975" cy="90175"/>
            </a:xfrm>
            <a:custGeom>
              <a:rect b="b" l="l" r="r" t="t"/>
              <a:pathLst>
                <a:path extrusionOk="0" h="3607" w="3719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5191575" y="3233400"/>
              <a:ext cx="92975" cy="88800"/>
            </a:xfrm>
            <a:custGeom>
              <a:rect b="b" l="l" r="r" t="t"/>
              <a:pathLst>
                <a:path extrusionOk="0" h="3552" w="3719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7001800" y="4631625"/>
              <a:ext cx="91575" cy="90175"/>
            </a:xfrm>
            <a:custGeom>
              <a:rect b="b" l="l" r="r" t="t"/>
              <a:pathLst>
                <a:path extrusionOk="0" h="3607" w="3663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573025" y="3419275"/>
              <a:ext cx="91600" cy="88800"/>
            </a:xfrm>
            <a:custGeom>
              <a:rect b="b" l="l" r="r" t="t"/>
              <a:pathLst>
                <a:path extrusionOk="0" h="3552" w="3664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6240250" y="2580050"/>
              <a:ext cx="92975" cy="88825"/>
            </a:xfrm>
            <a:custGeom>
              <a:rect b="b" l="l" r="r" t="t"/>
              <a:pathLst>
                <a:path extrusionOk="0" h="3553" w="3719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3381375" y="20182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191075" y="99317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3572775" y="2019650"/>
              <a:ext cx="91600" cy="88825"/>
            </a:xfrm>
            <a:custGeom>
              <a:rect b="b" l="l" r="r" t="t"/>
              <a:pathLst>
                <a:path extrusionOk="0" h="3553" w="3664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6908850" y="3976900"/>
              <a:ext cx="88800" cy="92950"/>
            </a:xfrm>
            <a:custGeom>
              <a:rect b="b" l="l" r="r" t="t"/>
              <a:pathLst>
                <a:path extrusionOk="0" h="3718" w="3552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4811500" y="1086125"/>
              <a:ext cx="91575" cy="90200"/>
            </a:xfrm>
            <a:custGeom>
              <a:rect b="b" l="l" r="r" t="t"/>
              <a:pathLst>
                <a:path extrusionOk="0" h="3608" w="3663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5668750" y="3512200"/>
              <a:ext cx="90200" cy="90200"/>
            </a:xfrm>
            <a:custGeom>
              <a:rect b="b" l="l" r="r" t="t"/>
              <a:pathLst>
                <a:path extrusionOk="0" h="3608" w="3608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5761700" y="3605150"/>
              <a:ext cx="92950" cy="88800"/>
            </a:xfrm>
            <a:custGeom>
              <a:rect b="b" l="l" r="r" t="t"/>
              <a:pathLst>
                <a:path extrusionOk="0" h="3552" w="3718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4717175" y="805925"/>
              <a:ext cx="90200" cy="91575"/>
            </a:xfrm>
            <a:custGeom>
              <a:rect b="b" l="l" r="r" t="t"/>
              <a:pathLst>
                <a:path extrusionOk="0" h="3663" w="3608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4715775" y="1180450"/>
              <a:ext cx="90200" cy="88800"/>
            </a:xfrm>
            <a:custGeom>
              <a:rect b="b" l="l" r="r" t="t"/>
              <a:pathLst>
                <a:path extrusionOk="0" h="3552" w="3608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4618700" y="1273375"/>
              <a:ext cx="94350" cy="90200"/>
            </a:xfrm>
            <a:custGeom>
              <a:rect b="b" l="l" r="r" t="t"/>
              <a:pathLst>
                <a:path extrusionOk="0" h="3608" w="3774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38125" y="713000"/>
              <a:ext cx="3140500" cy="2329000"/>
            </a:xfrm>
            <a:custGeom>
              <a:rect b="b" l="l" r="r" t="t"/>
              <a:pathLst>
                <a:path extrusionOk="0" h="93160" w="12562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951225" y="2765925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3285650" y="993175"/>
              <a:ext cx="4096225" cy="3448450"/>
            </a:xfrm>
            <a:custGeom>
              <a:rect b="b" l="l" r="r" t="t"/>
              <a:pathLst>
                <a:path extrusionOk="0" h="137938" w="163849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286775" y="1086125"/>
              <a:ext cx="185925" cy="92950"/>
            </a:xfrm>
            <a:custGeom>
              <a:rect b="b" l="l" r="r" t="t"/>
              <a:pathLst>
                <a:path extrusionOk="0" h="3718" w="7437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uess The Team Member">
  <p:cSld name="BLANK_1_1_1_1_1_1_1_1_1_1_1_1_1_2"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6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301" name="Google Shape;301;p2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03" name="Google Shape;303;p26"/>
          <p:cNvSpPr txBox="1"/>
          <p:nvPr>
            <p:ph idx="1" type="subTitle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orient="horz" pos="3081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t Attack">
  <p:cSld name="TITLE_1_1_5">
    <p:bg>
      <p:bgPr>
        <a:solidFill>
          <a:schemeClr val="accent4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7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07" name="Google Shape;307;p27"/>
            <p:cNvSpPr/>
            <p:nvPr/>
          </p:nvSpPr>
          <p:spPr>
            <a:xfrm>
              <a:off x="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40950" y="0"/>
              <a:ext cx="103049" cy="5143489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rect b="b" l="l" r="r" t="t"/>
              <a:pathLst>
                <a:path extrusionOk="0" h="143904" w="354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11" name="Google Shape;311;p27"/>
          <p:cNvSpPr/>
          <p:nvPr>
            <p:ph idx="2" type="pic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7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/>
        </p:txBody>
      </p:sp>
      <p:sp>
        <p:nvSpPr>
          <p:cNvPr id="313" name="Google Shape;313;p27"/>
          <p:cNvSpPr/>
          <p:nvPr>
            <p:ph idx="3" type="pic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7"/>
          <p:cNvSpPr/>
          <p:nvPr>
            <p:ph idx="4" type="pic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7"/>
          <p:cNvSpPr/>
          <p:nvPr>
            <p:ph idx="5" type="pic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7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17" name="Google Shape;317;p27"/>
          <p:cNvSpPr/>
          <p:nvPr>
            <p:ph idx="6" type="pic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7"/>
          <p:cNvSpPr/>
          <p:nvPr>
            <p:ph idx="7" type="pic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7"/>
          <p:cNvSpPr/>
          <p:nvPr>
            <p:ph idx="8" type="pic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27"/>
          <p:cNvSpPr txBox="1"/>
          <p:nvPr>
            <p:ph idx="1" type="subTitle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orient="horz" pos="468">
          <p15:clr>
            <a:srgbClr val="E46962"/>
          </p15:clr>
        </p15:guide>
        <p15:guide id="3" pos="5601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pos="5292">
          <p15:clr>
            <a:srgbClr val="E46962"/>
          </p15:clr>
        </p15:guide>
        <p15:guide id="7" pos="159">
          <p15:clr>
            <a:srgbClr val="E46962"/>
          </p15:clr>
        </p15:guide>
        <p15:guide id="8" orient="horz" pos="15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ks">
  <p:cSld name="BLANK_1_1_1_1_1_1_1_1_1_1_1_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/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23" name="Google Shape;323;p28"/>
          <p:cNvSpPr txBox="1"/>
          <p:nvPr>
            <p:ph idx="2" type="title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grpSp>
        <p:nvGrpSpPr>
          <p:cNvPr id="324" name="Google Shape;324;p28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325" name="Google Shape;325;p2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List">
  <p:cSld name="BLANK_1_1_1_1_1_1_1_1_1_1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 rotWithShape="1">
          <a:blip r:embed="rId2">
            <a:alphaModFix/>
          </a:blip>
          <a:srcRect b="48372" l="72419" r="0" t="25662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>
            <p:ph idx="1" type="subTitle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4" name="Google Shape;334;p29"/>
          <p:cNvSpPr txBox="1"/>
          <p:nvPr>
            <p:ph idx="2" type="subTitle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35" name="Google Shape;335;p29"/>
          <p:cNvSpPr txBox="1"/>
          <p:nvPr>
            <p:ph idx="3" type="subTitle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36" name="Google Shape;336;p29"/>
          <p:cNvSpPr txBox="1"/>
          <p:nvPr>
            <p:ph idx="4" type="subTitle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/>
        </p:txBody>
      </p:sp>
      <p:sp>
        <p:nvSpPr>
          <p:cNvPr id="337" name="Google Shape;337;p29"/>
          <p:cNvSpPr txBox="1"/>
          <p:nvPr>
            <p:ph idx="5" type="subTitle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/>
        </p:txBody>
      </p:sp>
      <p:sp>
        <p:nvSpPr>
          <p:cNvPr id="338" name="Google Shape;338;p29"/>
          <p:cNvSpPr txBox="1"/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9" name="Google Shape;339;p29"/>
          <p:cNvSpPr txBox="1"/>
          <p:nvPr>
            <p:ph idx="6" type="subTitle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0" name="Google Shape;340;p29"/>
          <p:cNvSpPr txBox="1"/>
          <p:nvPr>
            <p:ph idx="7" type="subTitle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1" name="Google Shape;341;p29"/>
          <p:cNvSpPr txBox="1"/>
          <p:nvPr>
            <p:ph idx="8" type="subTitle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2" name="Google Shape;342;p29"/>
          <p:cNvSpPr txBox="1"/>
          <p:nvPr>
            <p:ph idx="9" type="subTitle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3" name="Google Shape;343;p29"/>
          <p:cNvSpPr txBox="1"/>
          <p:nvPr>
            <p:ph idx="13" type="subTitle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4" name="Google Shape;344;p29"/>
          <p:cNvSpPr txBox="1"/>
          <p:nvPr>
            <p:ph idx="14" type="subTitle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5" name="Google Shape;345;p29"/>
          <p:cNvSpPr txBox="1"/>
          <p:nvPr>
            <p:ph idx="15" type="subTitle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6" name="Google Shape;346;p29"/>
          <p:cNvSpPr txBox="1"/>
          <p:nvPr>
            <p:ph idx="16" type="subTitle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347" name="Google Shape;347;p29"/>
          <p:cNvSpPr txBox="1"/>
          <p:nvPr>
            <p:ph idx="17" type="subTitle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48" name="Google Shape;348;p29"/>
          <p:cNvSpPr txBox="1"/>
          <p:nvPr>
            <p:ph idx="18" type="subTitle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68">
          <p15:clr>
            <a:srgbClr val="E46962"/>
          </p15:clr>
        </p15:guide>
        <p15:guide id="2" orient="horz" pos="3081">
          <p15:clr>
            <a:srgbClr val="E46962"/>
          </p15:clr>
        </p15:guide>
        <p15:guide id="3" pos="454">
          <p15:clr>
            <a:srgbClr val="E46962"/>
          </p15:clr>
        </p15:guide>
        <p15:guide id="4" pos="560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2_1_1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0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51" name="Google Shape;351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54" name="Google Shape;354;p30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55" name="Google Shape;355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58" name="Google Shape;358;p30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59" name="Google Shape;359;p3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61" name="Google Shape;361;p30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62" name="Google Shape;362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65" name="Google Shape;365;p30"/>
          <p:cNvSpPr txBox="1"/>
          <p:nvPr>
            <p:ph idx="1" type="subTitle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6" name="Google Shape;366;p30"/>
          <p:cNvSpPr txBox="1"/>
          <p:nvPr>
            <p:ph idx="2" type="subTitle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7" name="Google Shape;367;p30"/>
          <p:cNvSpPr txBox="1"/>
          <p:nvPr>
            <p:ph idx="3" type="subTitle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68" name="Google Shape;368;p30"/>
          <p:cNvSpPr txBox="1"/>
          <p:nvPr>
            <p:ph idx="4" type="subTitle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69" name="Google Shape;369;p30"/>
          <p:cNvSpPr txBox="1"/>
          <p:nvPr>
            <p:ph idx="5" type="subTitle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0" name="Google Shape;370;p30"/>
          <p:cNvSpPr txBox="1"/>
          <p:nvPr>
            <p:ph idx="6" type="subTitle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  <p:sp>
        <p:nvSpPr>
          <p:cNvPr id="371" name="Google Shape;371;p30"/>
          <p:cNvSpPr txBox="1"/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pos="5292">
          <p15:clr>
            <a:srgbClr val="E46962"/>
          </p15:clr>
        </p15:guide>
        <p15:guide id="6" pos="159">
          <p15:clr>
            <a:srgbClr val="E46962"/>
          </p15:clr>
        </p15:guide>
        <p15:guide id="7" orient="horz" pos="159">
          <p15:clr>
            <a:srgbClr val="E46962"/>
          </p15:clr>
        </p15:guide>
        <p15:guide id="8" orient="horz" pos="2772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BLANK_1_1_1_1_1_1_2">
    <p:bg>
      <p:bgPr>
        <a:solidFill>
          <a:schemeClr val="accent2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1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74" name="Google Shape;374;p3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78" name="Google Shape;378;p31"/>
          <p:cNvSpPr txBox="1"/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/>
        </p:txBody>
      </p:sp>
      <p:sp>
        <p:nvSpPr>
          <p:cNvPr id="379" name="Google Shape;379;p31"/>
          <p:cNvSpPr txBox="1"/>
          <p:nvPr>
            <p:ph idx="2" type="title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/>
        </p:txBody>
      </p:sp>
      <p:pic>
        <p:nvPicPr>
          <p:cNvPr id="380" name="Google Shape;380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 rotWithShape="1">
          <a:blip r:embed="rId2">
            <a:alphaModFix/>
          </a:blip>
          <a:srcRect b="47658" l="8384" r="59408" t="26263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/>
          <p:cNvPicPr preferRelativeResize="0"/>
          <p:nvPr/>
        </p:nvPicPr>
        <p:blipFill rotWithShape="1">
          <a:blip r:embed="rId3">
            <a:alphaModFix/>
          </a:blip>
          <a:srcRect b="0" l="6522" r="6522" t="0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/>
          <p:cNvPicPr preferRelativeResize="0"/>
          <p:nvPr/>
        </p:nvPicPr>
        <p:blipFill rotWithShape="1">
          <a:blip r:embed="rId3">
            <a:alphaModFix/>
          </a:blip>
          <a:srcRect b="0" l="6522" r="6522" t="0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/>
          <p:cNvPicPr preferRelativeResize="0"/>
          <p:nvPr/>
        </p:nvPicPr>
        <p:blipFill rotWithShape="1">
          <a:blip r:embed="rId4">
            <a:alphaModFix/>
          </a:blip>
          <a:srcRect b="0" l="6522" r="6522" t="0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1"/>
          <p:cNvPicPr preferRelativeResize="0"/>
          <p:nvPr/>
        </p:nvPicPr>
        <p:blipFill rotWithShape="1">
          <a:blip r:embed="rId4">
            <a:alphaModFix/>
          </a:blip>
          <a:srcRect b="0" l="6522" r="6522" t="0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b="0" l="6522" r="6522" t="0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31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90" name="Google Shape;390;p31"/>
            <p:cNvSpPr/>
            <p:nvPr/>
          </p:nvSpPr>
          <p:spPr>
            <a:xfrm>
              <a:off x="2601950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4454675" y="1974675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2601950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2811025" y="3107225"/>
              <a:ext cx="615675" cy="615675"/>
            </a:xfrm>
            <a:custGeom>
              <a:rect b="b" l="l" r="r" t="t"/>
              <a:pathLst>
                <a:path extrusionOk="0" h="24627" w="24627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3008500" y="3316325"/>
              <a:ext cx="1759825" cy="621450"/>
            </a:xfrm>
            <a:custGeom>
              <a:rect b="b" l="l" r="r" t="t"/>
              <a:pathLst>
                <a:path extrusionOk="0" h="24858" w="70393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4251400" y="3107225"/>
              <a:ext cx="615650" cy="615675"/>
            </a:xfrm>
            <a:custGeom>
              <a:rect b="b" l="l" r="r" t="t"/>
              <a:pathLst>
                <a:path extrusionOk="0" h="24627" w="24626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454675" y="2903950"/>
              <a:ext cx="621475" cy="621475"/>
            </a:xfrm>
            <a:custGeom>
              <a:rect b="b" l="l" r="r" t="t"/>
              <a:pathLst>
                <a:path extrusionOk="0" h="24859" w="24859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pos="468">
          <p15:clr>
            <a:srgbClr val="E46962"/>
          </p15:clr>
        </p15:guide>
        <p15:guide id="2" pos="5601">
          <p15:clr>
            <a:srgbClr val="E46962"/>
          </p15:clr>
        </p15:guide>
        <p15:guide id="3" orient="horz" pos="468">
          <p15:clr>
            <a:srgbClr val="E46962"/>
          </p15:clr>
        </p15:guide>
        <p15:guide id="4" orient="horz" pos="3081">
          <p15:clr>
            <a:srgbClr val="E46962"/>
          </p15:clr>
        </p15:guide>
        <p15:guide id="5" orient="horz" pos="2772">
          <p15:clr>
            <a:srgbClr val="E46962"/>
          </p15:clr>
        </p15:guide>
        <p15:guide id="6" orient="horz" pos="159">
          <p15:clr>
            <a:srgbClr val="E46962"/>
          </p15:clr>
        </p15:guide>
        <p15:guide id="7" pos="5292">
          <p15:clr>
            <a:srgbClr val="E46962"/>
          </p15:clr>
        </p15:guide>
        <p15:guide id="8" pos="159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4" name="Google Shape;4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3" name="Google Shape;413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8" name="Google Shape;418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9" name="Google Shape;419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" name="Google Shape;424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8" name="Google Shape;428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9" name="Google Shape;429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7" name="Google Shape;437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0" name="Google Shape;440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1" name="Google Shape;441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2" name="Google Shape;442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7" name="Google Shape;447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48" name="Google Shape;448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9" name="Google Shape;449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0" name="Google Shape;450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1" name="Google Shape;451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4" name="Google Shape;454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5" name="Google Shape;455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6" name="Google Shape;456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7" name="Google Shape;457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8" name="Google Shape;458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0" name="Google Shape;460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4" name="Google Shape;464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7" name="Google Shape;467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2" name="Google Shape;472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5" name="Google Shape;475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1" name="Google Shape;481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2" name="Google Shape;482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3" name="Google Shape;483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3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9">
          <p15:clr>
            <a:srgbClr val="E46962"/>
          </p15:clr>
        </p15:guide>
        <p15:guide id="2" orient="horz" pos="17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ites.google.com/site/sbkimcv/dataset/instagram-influencer-datase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/>
          <p:nvPr>
            <p:ph idx="4" type="title"/>
          </p:nvPr>
        </p:nvSpPr>
        <p:spPr>
          <a:xfrm>
            <a:off x="699974" y="734275"/>
            <a:ext cx="54219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Instagram Influencer </a:t>
            </a:r>
            <a:endParaRPr/>
          </a:p>
        </p:txBody>
      </p:sp>
      <p:sp>
        <p:nvSpPr>
          <p:cNvPr id="502" name="Google Shape;502;p53"/>
          <p:cNvSpPr txBox="1"/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RECOMMENDER SYSTEM</a:t>
            </a:r>
            <a:endParaRPr/>
          </a:p>
        </p:txBody>
      </p:sp>
      <p:sp>
        <p:nvSpPr>
          <p:cNvPr id="503" name="Google Shape;503;p53"/>
          <p:cNvSpPr txBox="1"/>
          <p:nvPr>
            <p:ph idx="3" type="title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Group 5 </a:t>
            </a:r>
            <a:endParaRPr/>
          </a:p>
        </p:txBody>
      </p:sp>
      <p:sp>
        <p:nvSpPr>
          <p:cNvPr id="504" name="Google Shape;504;p53"/>
          <p:cNvSpPr txBox="1"/>
          <p:nvPr>
            <p:ph idx="2" type="title"/>
          </p:nvPr>
        </p:nvSpPr>
        <p:spPr>
          <a:xfrm>
            <a:off x="699974" y="4547000"/>
            <a:ext cx="5543700" cy="34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Samii Shabuse, Savit Tumuluri, Han Truong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4"/>
          <p:cNvSpPr/>
          <p:nvPr/>
        </p:nvSpPr>
        <p:spPr>
          <a:xfrm>
            <a:off x="7260362" y="427201"/>
            <a:ext cx="1366200" cy="136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0" name="Google Shape;510;p54"/>
          <p:cNvSpPr/>
          <p:nvPr/>
        </p:nvSpPr>
        <p:spPr>
          <a:xfrm>
            <a:off x="5732839" y="509050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1" name="Google Shape;511;p54"/>
          <p:cNvSpPr/>
          <p:nvPr/>
        </p:nvSpPr>
        <p:spPr>
          <a:xfrm>
            <a:off x="4131054" y="402027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2" name="Google Shape;512;p54"/>
          <p:cNvSpPr/>
          <p:nvPr/>
        </p:nvSpPr>
        <p:spPr>
          <a:xfrm>
            <a:off x="6992062" y="1941875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3" name="Google Shape;513;p54"/>
          <p:cNvSpPr/>
          <p:nvPr/>
        </p:nvSpPr>
        <p:spPr>
          <a:xfrm>
            <a:off x="5659586" y="1768232"/>
            <a:ext cx="1366200" cy="1366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4" name="Google Shape;514;p54"/>
          <p:cNvSpPr/>
          <p:nvPr/>
        </p:nvSpPr>
        <p:spPr>
          <a:xfrm>
            <a:off x="4131054" y="1906353"/>
            <a:ext cx="1366200" cy="136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5" name="Google Shape;515;p54"/>
          <p:cNvSpPr/>
          <p:nvPr/>
        </p:nvSpPr>
        <p:spPr>
          <a:xfrm>
            <a:off x="4131054" y="3410675"/>
            <a:ext cx="1366200" cy="1366200"/>
          </a:xfrm>
          <a:prstGeom prst="rect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6" name="Google Shape;516;p54"/>
          <p:cNvSpPr/>
          <p:nvPr/>
        </p:nvSpPr>
        <p:spPr>
          <a:xfrm>
            <a:off x="5659586" y="3272548"/>
            <a:ext cx="1366200" cy="1366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7" name="Google Shape;517;p54"/>
          <p:cNvSpPr/>
          <p:nvPr/>
        </p:nvSpPr>
        <p:spPr>
          <a:xfrm>
            <a:off x="7260371" y="3145123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18" name="Google Shape;518;p54"/>
          <p:cNvSpPr txBox="1"/>
          <p:nvPr>
            <p:ph idx="23" type="title"/>
          </p:nvPr>
        </p:nvSpPr>
        <p:spPr>
          <a:xfrm>
            <a:off x="526925" y="2242975"/>
            <a:ext cx="29466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rgbClr val="F1C232"/>
                </a:solidFill>
              </a:rPr>
              <a:t>TABLE </a:t>
            </a:r>
            <a:r>
              <a:rPr i="1" lang="en">
                <a:solidFill>
                  <a:srgbClr val="F1C232"/>
                </a:solidFill>
              </a:rPr>
              <a:t>of</a:t>
            </a:r>
            <a:endParaRPr i="1">
              <a:solidFill>
                <a:srgbClr val="F1C232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519" name="Google Shape;519;p54"/>
          <p:cNvSpPr txBox="1"/>
          <p:nvPr>
            <p:ph idx="9" type="title"/>
          </p:nvPr>
        </p:nvSpPr>
        <p:spPr>
          <a:xfrm>
            <a:off x="4131050" y="898075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RECOMMENDER SYSTEM</a:t>
            </a:r>
            <a:endParaRPr b="1" sz="1200"/>
          </a:p>
        </p:txBody>
      </p:sp>
      <p:sp>
        <p:nvSpPr>
          <p:cNvPr id="520" name="Google Shape;520;p54"/>
          <p:cNvSpPr txBox="1"/>
          <p:nvPr>
            <p:ph type="title"/>
          </p:nvPr>
        </p:nvSpPr>
        <p:spPr>
          <a:xfrm>
            <a:off x="7291725" y="943350"/>
            <a:ext cx="1303500" cy="4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DATA</a:t>
            </a:r>
            <a:endParaRPr b="1" sz="1200"/>
          </a:p>
        </p:txBody>
      </p:sp>
      <p:sp>
        <p:nvSpPr>
          <p:cNvPr id="521" name="Google Shape;521;p54"/>
          <p:cNvSpPr txBox="1"/>
          <p:nvPr>
            <p:ph idx="4" type="title"/>
          </p:nvPr>
        </p:nvSpPr>
        <p:spPr>
          <a:xfrm>
            <a:off x="5792326" y="2264275"/>
            <a:ext cx="11007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METHODS &amp;</a:t>
            </a:r>
            <a:endParaRPr b="1" sz="1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MODELS</a:t>
            </a:r>
            <a:endParaRPr b="1" sz="1200"/>
          </a:p>
        </p:txBody>
      </p:sp>
      <p:sp>
        <p:nvSpPr>
          <p:cNvPr id="522" name="Google Shape;522;p54"/>
          <p:cNvSpPr txBox="1"/>
          <p:nvPr>
            <p:ph idx="6" type="title"/>
          </p:nvPr>
        </p:nvSpPr>
        <p:spPr>
          <a:xfrm>
            <a:off x="4263799" y="3906725"/>
            <a:ext cx="11007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RESULTS &amp;</a:t>
            </a:r>
            <a:endParaRPr b="1" sz="12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EVALUATION</a:t>
            </a:r>
            <a:endParaRPr b="1" sz="1200"/>
          </a:p>
        </p:txBody>
      </p:sp>
      <p:sp>
        <p:nvSpPr>
          <p:cNvPr id="523" name="Google Shape;523;p54"/>
          <p:cNvSpPr txBox="1"/>
          <p:nvPr>
            <p:ph idx="8" type="title"/>
          </p:nvPr>
        </p:nvSpPr>
        <p:spPr>
          <a:xfrm>
            <a:off x="7352625" y="3641175"/>
            <a:ext cx="11817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NEXT STEPS</a:t>
            </a:r>
            <a:endParaRPr b="1" sz="1200"/>
          </a:p>
        </p:txBody>
      </p:sp>
      <p:cxnSp>
        <p:nvCxnSpPr>
          <p:cNvPr id="524" name="Google Shape;524;p54"/>
          <p:cNvCxnSpPr>
            <a:stCxn id="510" idx="1"/>
          </p:cNvCxnSpPr>
          <p:nvPr/>
        </p:nvCxnSpPr>
        <p:spPr>
          <a:xfrm>
            <a:off x="5732839" y="1192150"/>
            <a:ext cx="1366200" cy="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5" name="Google Shape;525;p54"/>
          <p:cNvCxnSpPr>
            <a:stCxn id="512" idx="0"/>
            <a:endCxn id="513" idx="3"/>
          </p:cNvCxnSpPr>
          <p:nvPr/>
        </p:nvCxnSpPr>
        <p:spPr>
          <a:xfrm flipH="1">
            <a:off x="7025662" y="1941875"/>
            <a:ext cx="649500" cy="5094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6" name="Google Shape;526;p54"/>
          <p:cNvCxnSpPr>
            <a:stCxn id="514" idx="3"/>
            <a:endCxn id="514" idx="2"/>
          </p:cNvCxnSpPr>
          <p:nvPr/>
        </p:nvCxnSpPr>
        <p:spPr>
          <a:xfrm flipH="1">
            <a:off x="4814154" y="2589453"/>
            <a:ext cx="683100" cy="683100"/>
          </a:xfrm>
          <a:prstGeom prst="straightConnector1">
            <a:avLst/>
          </a:prstGeom>
          <a:noFill/>
          <a:ln cap="flat" cmpd="sng" w="2857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7" name="Google Shape;527;p54"/>
          <p:cNvCxnSpPr>
            <a:stCxn id="516" idx="1"/>
            <a:endCxn id="516" idx="3"/>
          </p:cNvCxnSpPr>
          <p:nvPr/>
        </p:nvCxnSpPr>
        <p:spPr>
          <a:xfrm>
            <a:off x="5659586" y="3955648"/>
            <a:ext cx="1366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5"/>
          <p:cNvSpPr txBox="1"/>
          <p:nvPr>
            <p:ph idx="1" type="subTitle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39700" marR="139700" rtl="0" algn="l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i="1" lang="en" sz="1400">
                <a:solidFill>
                  <a:srgbClr val="454C5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“Given an influencer’s past posts, what </a:t>
            </a:r>
            <a:r>
              <a:rPr b="1" i="1" lang="en" sz="1400">
                <a:solidFill>
                  <a:srgbClr val="454C5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type of content</a:t>
            </a:r>
            <a:r>
              <a:rPr i="1" lang="en" sz="1400">
                <a:solidFill>
                  <a:srgbClr val="454C5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should they try next to get good engagement?”</a:t>
            </a:r>
            <a:endParaRPr sz="1400"/>
          </a:p>
        </p:txBody>
      </p:sp>
      <p:sp>
        <p:nvSpPr>
          <p:cNvPr id="533" name="Google Shape;533;p55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534" name="Google Shape;534;p55"/>
          <p:cNvSpPr txBox="1"/>
          <p:nvPr>
            <p:ph idx="1" type="subTitle"/>
          </p:nvPr>
        </p:nvSpPr>
        <p:spPr>
          <a:xfrm>
            <a:off x="5319325" y="2674325"/>
            <a:ext cx="3674700" cy="90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1100"/>
              <a:buNone/>
            </a:pPr>
            <a:r>
              <a:rPr lang="en" sz="1400">
                <a:solidFill>
                  <a:srgbClr val="010409"/>
                </a:solidFill>
                <a:highlight>
                  <a:schemeClr val="accent4"/>
                </a:highlight>
                <a:latin typeface="Consolas"/>
                <a:ea typeface="Consolas"/>
                <a:cs typeface="Consolas"/>
                <a:sym typeface="Consolas"/>
              </a:rPr>
              <a:t>evening + medium_caption + few_hashtags + not_ad + image</a:t>
            </a:r>
            <a:endParaRPr i="1" sz="1400">
              <a:solidFill>
                <a:srgbClr val="454C54"/>
              </a:solidFill>
              <a:highlight>
                <a:schemeClr val="accent4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5"/>
          <p:cNvSpPr txBox="1"/>
          <p:nvPr>
            <p:ph idx="4294967295" type="title"/>
          </p:nvPr>
        </p:nvSpPr>
        <p:spPr>
          <a:xfrm>
            <a:off x="5235175" y="2363400"/>
            <a:ext cx="3843000" cy="416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125000"/>
              <a:buNone/>
            </a:pPr>
            <a:r>
              <a:rPr lang="en">
                <a:solidFill>
                  <a:schemeClr val="accent4"/>
                </a:solidFill>
              </a:rPr>
              <a:t>CONTENT STRATEGY</a:t>
            </a:r>
            <a:endParaRPr>
              <a:solidFill>
                <a:schemeClr val="accent4"/>
              </a:solidFill>
            </a:endParaRPr>
          </a:p>
        </p:txBody>
      </p:sp>
      <p:cxnSp>
        <p:nvCxnSpPr>
          <p:cNvPr id="536" name="Google Shape;536;p55"/>
          <p:cNvCxnSpPr>
            <a:stCxn id="532" idx="3"/>
            <a:endCxn id="535" idx="1"/>
          </p:cNvCxnSpPr>
          <p:nvPr/>
        </p:nvCxnSpPr>
        <p:spPr>
          <a:xfrm>
            <a:off x="4474650" y="704400"/>
            <a:ext cx="760500" cy="1867500"/>
          </a:xfrm>
          <a:prstGeom prst="curvedConnector3">
            <a:avLst>
              <a:gd fmla="val 50002" name="adj1"/>
            </a:avLst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6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542" name="Google Shape;542;p56"/>
          <p:cNvGrpSpPr/>
          <p:nvPr/>
        </p:nvGrpSpPr>
        <p:grpSpPr>
          <a:xfrm>
            <a:off x="744050" y="1410850"/>
            <a:ext cx="4043000" cy="2081375"/>
            <a:chOff x="744050" y="1654675"/>
            <a:chExt cx="4043000" cy="2081375"/>
          </a:xfrm>
        </p:grpSpPr>
        <p:grpSp>
          <p:nvGrpSpPr>
            <p:cNvPr id="543" name="Google Shape;543;p56"/>
            <p:cNvGrpSpPr/>
            <p:nvPr/>
          </p:nvGrpSpPr>
          <p:grpSpPr>
            <a:xfrm>
              <a:off x="744050" y="1945050"/>
              <a:ext cx="4043000" cy="1791000"/>
              <a:chOff x="744050" y="1837975"/>
              <a:chExt cx="4043000" cy="1791000"/>
            </a:xfrm>
          </p:grpSpPr>
          <p:sp>
            <p:nvSpPr>
              <p:cNvPr id="544" name="Google Shape;544;p56"/>
              <p:cNvSpPr/>
              <p:nvPr/>
            </p:nvSpPr>
            <p:spPr>
              <a:xfrm>
                <a:off x="1226975" y="2436358"/>
                <a:ext cx="392400" cy="40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45" name="Google Shape;545;p56"/>
              <p:cNvSpPr/>
              <p:nvPr/>
            </p:nvSpPr>
            <p:spPr>
              <a:xfrm>
                <a:off x="744050" y="3236575"/>
                <a:ext cx="741900" cy="392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46" name="Google Shape;546;p56"/>
              <p:cNvSpPr/>
              <p:nvPr/>
            </p:nvSpPr>
            <p:spPr>
              <a:xfrm>
                <a:off x="1486000" y="2351575"/>
                <a:ext cx="765000" cy="88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547" name="Google Shape;547;p56"/>
              <p:cNvSpPr/>
              <p:nvPr/>
            </p:nvSpPr>
            <p:spPr>
              <a:xfrm>
                <a:off x="3617350" y="1837975"/>
                <a:ext cx="1169700" cy="1006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sp>
          <p:nvSpPr>
            <p:cNvPr id="548" name="Google Shape;548;p56"/>
            <p:cNvSpPr/>
            <p:nvPr/>
          </p:nvSpPr>
          <p:spPr>
            <a:xfrm>
              <a:off x="1005100" y="1654675"/>
              <a:ext cx="3713100" cy="900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49" name="Google Shape;549;p56"/>
          <p:cNvSpPr txBox="1"/>
          <p:nvPr>
            <p:ph idx="5" type="title"/>
          </p:nvPr>
        </p:nvSpPr>
        <p:spPr>
          <a:xfrm>
            <a:off x="5333527" y="764389"/>
            <a:ext cx="33942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DEFINE </a:t>
            </a:r>
            <a:r>
              <a:rPr i="1" lang="en"/>
              <a:t>the</a:t>
            </a:r>
            <a:endParaRPr i="1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SYSTEM  </a:t>
            </a:r>
            <a:endParaRPr/>
          </a:p>
        </p:txBody>
      </p:sp>
      <p:sp>
        <p:nvSpPr>
          <p:cNvPr id="550" name="Google Shape;550;p56"/>
          <p:cNvSpPr txBox="1"/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USER:</a:t>
            </a:r>
            <a:r>
              <a:rPr lang="en"/>
              <a:t> an </a:t>
            </a:r>
            <a:r>
              <a:rPr i="1" lang="en"/>
              <a:t>@instagram_influencer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ITEMS:</a:t>
            </a:r>
            <a:r>
              <a:rPr lang="en"/>
              <a:t> content strategies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IMPLICIT FEEDBACK:</a:t>
            </a:r>
            <a:r>
              <a:rPr lang="en"/>
              <a:t> Engagement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OUTPUT: </a:t>
            </a:r>
            <a:r>
              <a:rPr lang="en"/>
              <a:t>Top-N Recommendations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51" name="Google Shape;551;p56"/>
          <p:cNvSpPr txBox="1"/>
          <p:nvPr/>
        </p:nvSpPr>
        <p:spPr>
          <a:xfrm>
            <a:off x="4804625" y="1723800"/>
            <a:ext cx="30291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Example</a:t>
            </a:r>
            <a:endParaRPr sz="15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52" name="Google Shape;552;p56"/>
          <p:cNvSpPr txBox="1"/>
          <p:nvPr/>
        </p:nvSpPr>
        <p:spPr>
          <a:xfrm>
            <a:off x="4787050" y="2054700"/>
            <a:ext cx="2736000" cy="12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“ Given </a:t>
            </a:r>
            <a:r>
              <a:rPr b="1" i="1" lang="en" sz="12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@some_fashion_creator</a:t>
            </a: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’s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1,200 likes &amp; 45 comments </a:t>
            </a: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on past posts, they should try the strategy 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morning + short_caption + no_hashtags + not_ad + image</a:t>
            </a:r>
            <a:r>
              <a:rPr lang="en" sz="1200">
                <a:solidFill>
                  <a:schemeClr val="accent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 </a:t>
            </a:r>
            <a:r>
              <a:rPr lang="en" sz="12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”</a:t>
            </a:r>
            <a:endParaRPr sz="12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7"/>
          <p:cNvSpPr/>
          <p:nvPr/>
        </p:nvSpPr>
        <p:spPr>
          <a:xfrm>
            <a:off x="463929" y="1416302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58" name="Google Shape;558;p57"/>
          <p:cNvSpPr txBox="1"/>
          <p:nvPr>
            <p:ph idx="23" type="title"/>
          </p:nvPr>
        </p:nvSpPr>
        <p:spPr>
          <a:xfrm>
            <a:off x="526925" y="427200"/>
            <a:ext cx="2946600" cy="9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>
                <a:solidFill>
                  <a:srgbClr val="F1C232"/>
                </a:solidFill>
              </a:rPr>
              <a:t>Pipeline Overview</a:t>
            </a:r>
            <a:endParaRPr/>
          </a:p>
        </p:txBody>
      </p:sp>
      <p:sp>
        <p:nvSpPr>
          <p:cNvPr id="559" name="Google Shape;559;p57"/>
          <p:cNvSpPr txBox="1"/>
          <p:nvPr>
            <p:ph idx="9" type="title"/>
          </p:nvPr>
        </p:nvSpPr>
        <p:spPr>
          <a:xfrm>
            <a:off x="463925" y="1912350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Raw metadata</a:t>
            </a:r>
            <a:endParaRPr b="1" sz="1200"/>
          </a:p>
        </p:txBody>
      </p:sp>
      <p:cxnSp>
        <p:nvCxnSpPr>
          <p:cNvPr id="560" name="Google Shape;560;p57"/>
          <p:cNvCxnSpPr/>
          <p:nvPr/>
        </p:nvCxnSpPr>
        <p:spPr>
          <a:xfrm>
            <a:off x="1935864" y="2094750"/>
            <a:ext cx="769200" cy="9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57"/>
          <p:cNvSpPr/>
          <p:nvPr/>
        </p:nvSpPr>
        <p:spPr>
          <a:xfrm>
            <a:off x="2810829" y="1416302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2" name="Google Shape;562;p57"/>
          <p:cNvSpPr txBox="1"/>
          <p:nvPr>
            <p:ph idx="9" type="title"/>
          </p:nvPr>
        </p:nvSpPr>
        <p:spPr>
          <a:xfrm>
            <a:off x="2810825" y="1912350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Feature Engineering</a:t>
            </a:r>
            <a:endParaRPr b="1" sz="1200"/>
          </a:p>
        </p:txBody>
      </p:sp>
      <p:cxnSp>
        <p:nvCxnSpPr>
          <p:cNvPr id="563" name="Google Shape;563;p57"/>
          <p:cNvCxnSpPr/>
          <p:nvPr/>
        </p:nvCxnSpPr>
        <p:spPr>
          <a:xfrm>
            <a:off x="4282764" y="2094750"/>
            <a:ext cx="769200" cy="9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57"/>
          <p:cNvSpPr/>
          <p:nvPr/>
        </p:nvSpPr>
        <p:spPr>
          <a:xfrm>
            <a:off x="5226429" y="1416302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5" name="Google Shape;565;p57"/>
          <p:cNvSpPr txBox="1"/>
          <p:nvPr>
            <p:ph idx="9" type="title"/>
          </p:nvPr>
        </p:nvSpPr>
        <p:spPr>
          <a:xfrm>
            <a:off x="5226425" y="1912350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Strategy Labels</a:t>
            </a:r>
            <a:endParaRPr b="1" sz="1200"/>
          </a:p>
        </p:txBody>
      </p:sp>
      <p:cxnSp>
        <p:nvCxnSpPr>
          <p:cNvPr id="566" name="Google Shape;566;p57"/>
          <p:cNvCxnSpPr/>
          <p:nvPr/>
        </p:nvCxnSpPr>
        <p:spPr>
          <a:xfrm flipH="1">
            <a:off x="1307964" y="2913900"/>
            <a:ext cx="4399800" cy="280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7" name="Google Shape;567;p57"/>
          <p:cNvSpPr/>
          <p:nvPr/>
        </p:nvSpPr>
        <p:spPr>
          <a:xfrm>
            <a:off x="463929" y="3349877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68" name="Google Shape;568;p57"/>
          <p:cNvSpPr txBox="1"/>
          <p:nvPr>
            <p:ph idx="9" type="title"/>
          </p:nvPr>
        </p:nvSpPr>
        <p:spPr>
          <a:xfrm>
            <a:off x="463925" y="3845925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Train/Test Split</a:t>
            </a:r>
            <a:endParaRPr b="1" sz="1200"/>
          </a:p>
        </p:txBody>
      </p:sp>
      <p:cxnSp>
        <p:nvCxnSpPr>
          <p:cNvPr id="569" name="Google Shape;569;p57"/>
          <p:cNvCxnSpPr/>
          <p:nvPr/>
        </p:nvCxnSpPr>
        <p:spPr>
          <a:xfrm>
            <a:off x="1935864" y="4028325"/>
            <a:ext cx="769200" cy="9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0" name="Google Shape;570;p57"/>
          <p:cNvSpPr/>
          <p:nvPr/>
        </p:nvSpPr>
        <p:spPr>
          <a:xfrm>
            <a:off x="2810829" y="3397502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-=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571" name="Google Shape;571;p57"/>
          <p:cNvCxnSpPr/>
          <p:nvPr/>
        </p:nvCxnSpPr>
        <p:spPr>
          <a:xfrm>
            <a:off x="4282764" y="4075950"/>
            <a:ext cx="769200" cy="9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2" name="Google Shape;572;p57"/>
          <p:cNvSpPr txBox="1"/>
          <p:nvPr>
            <p:ph idx="9" type="title"/>
          </p:nvPr>
        </p:nvSpPr>
        <p:spPr>
          <a:xfrm>
            <a:off x="2810825" y="3893550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1200"/>
              <a:t>Models</a:t>
            </a:r>
            <a:endParaRPr b="1" sz="1200"/>
          </a:p>
        </p:txBody>
      </p:sp>
      <p:sp>
        <p:nvSpPr>
          <p:cNvPr id="573" name="Google Shape;573;p57"/>
          <p:cNvSpPr/>
          <p:nvPr/>
        </p:nvSpPr>
        <p:spPr>
          <a:xfrm>
            <a:off x="5157729" y="3397502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Mode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cxnSp>
        <p:nvCxnSpPr>
          <p:cNvPr id="574" name="Google Shape;574;p57"/>
          <p:cNvCxnSpPr/>
          <p:nvPr/>
        </p:nvCxnSpPr>
        <p:spPr>
          <a:xfrm flipH="1" rot="10800000">
            <a:off x="6629664" y="3841650"/>
            <a:ext cx="593400" cy="234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5" name="Google Shape;575;p57"/>
          <p:cNvSpPr txBox="1"/>
          <p:nvPr>
            <p:ph idx="9" type="title"/>
          </p:nvPr>
        </p:nvSpPr>
        <p:spPr>
          <a:xfrm>
            <a:off x="5157725" y="3893550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Top-5 Recommendations</a:t>
            </a:r>
            <a:endParaRPr b="1"/>
          </a:p>
        </p:txBody>
      </p:sp>
      <p:sp>
        <p:nvSpPr>
          <p:cNvPr id="576" name="Google Shape;576;p57"/>
          <p:cNvSpPr/>
          <p:nvPr/>
        </p:nvSpPr>
        <p:spPr>
          <a:xfrm>
            <a:off x="7234179" y="2370902"/>
            <a:ext cx="1366200" cy="1366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Mode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577" name="Google Shape;577;p57"/>
          <p:cNvSpPr txBox="1"/>
          <p:nvPr>
            <p:ph idx="9" type="title"/>
          </p:nvPr>
        </p:nvSpPr>
        <p:spPr>
          <a:xfrm>
            <a:off x="7234175" y="2866950"/>
            <a:ext cx="13662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Evaluation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2" name="Google Shape;582;p58"/>
          <p:cNvGrpSpPr/>
          <p:nvPr/>
        </p:nvGrpSpPr>
        <p:grpSpPr>
          <a:xfrm>
            <a:off x="0" y="1917000"/>
            <a:ext cx="2846403" cy="3226550"/>
            <a:chOff x="0" y="1917000"/>
            <a:chExt cx="2846403" cy="3226550"/>
          </a:xfrm>
        </p:grpSpPr>
        <p:sp>
          <p:nvSpPr>
            <p:cNvPr id="583" name="Google Shape;583;p58"/>
            <p:cNvSpPr/>
            <p:nvPr/>
          </p:nvSpPr>
          <p:spPr>
            <a:xfrm>
              <a:off x="0" y="191700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4" name="Google Shape;584;p58"/>
            <p:cNvSpPr/>
            <p:nvPr/>
          </p:nvSpPr>
          <p:spPr>
            <a:xfrm>
              <a:off x="583203" y="2195270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5" name="Google Shape;585;p58"/>
            <p:cNvSpPr/>
            <p:nvPr/>
          </p:nvSpPr>
          <p:spPr>
            <a:xfrm>
              <a:off x="406231" y="2863118"/>
              <a:ext cx="2263200" cy="1977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6" name="Google Shape;586;p58"/>
            <p:cNvSpPr/>
            <p:nvPr/>
          </p:nvSpPr>
          <p:spPr>
            <a:xfrm>
              <a:off x="0" y="3709850"/>
              <a:ext cx="2263200" cy="14337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87" name="Google Shape;587;p58"/>
            <p:cNvSpPr/>
            <p:nvPr/>
          </p:nvSpPr>
          <p:spPr>
            <a:xfrm>
              <a:off x="406225" y="3904091"/>
              <a:ext cx="2263200" cy="123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588" name="Google Shape;588;p58"/>
          <p:cNvGrpSpPr/>
          <p:nvPr/>
        </p:nvGrpSpPr>
        <p:grpSpPr>
          <a:xfrm>
            <a:off x="3039975" y="1917000"/>
            <a:ext cx="6103900" cy="3226630"/>
            <a:chOff x="3039975" y="1917000"/>
            <a:chExt cx="6103900" cy="3226630"/>
          </a:xfrm>
        </p:grpSpPr>
        <p:sp>
          <p:nvSpPr>
            <p:cNvPr id="589" name="Google Shape;589;p58"/>
            <p:cNvSpPr/>
            <p:nvPr/>
          </p:nvSpPr>
          <p:spPr>
            <a:xfrm>
              <a:off x="3039975" y="1917000"/>
              <a:ext cx="61038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0" name="Google Shape;590;p58"/>
            <p:cNvSpPr/>
            <p:nvPr/>
          </p:nvSpPr>
          <p:spPr>
            <a:xfrm>
              <a:off x="3039975" y="3949323"/>
              <a:ext cx="1851000" cy="1194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1" name="Google Shape;591;p58"/>
            <p:cNvSpPr/>
            <p:nvPr/>
          </p:nvSpPr>
          <p:spPr>
            <a:xfrm>
              <a:off x="5802775" y="1917000"/>
              <a:ext cx="3341100" cy="286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2" name="Google Shape;592;p58"/>
            <p:cNvSpPr/>
            <p:nvPr/>
          </p:nvSpPr>
          <p:spPr>
            <a:xfrm>
              <a:off x="5730500" y="2475475"/>
              <a:ext cx="2187000" cy="16614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3" name="Google Shape;593;p58"/>
            <p:cNvSpPr/>
            <p:nvPr/>
          </p:nvSpPr>
          <p:spPr>
            <a:xfrm>
              <a:off x="5730500" y="3793330"/>
              <a:ext cx="2219100" cy="135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4" name="Google Shape;594;p58"/>
            <p:cNvSpPr/>
            <p:nvPr/>
          </p:nvSpPr>
          <p:spPr>
            <a:xfrm>
              <a:off x="6966550" y="3523794"/>
              <a:ext cx="1853700" cy="16197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5" name="Google Shape;595;p58"/>
            <p:cNvSpPr/>
            <p:nvPr/>
          </p:nvSpPr>
          <p:spPr>
            <a:xfrm>
              <a:off x="4236950" y="3217426"/>
              <a:ext cx="1851000" cy="1269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6" name="Google Shape;596;p58"/>
            <p:cNvSpPr/>
            <p:nvPr/>
          </p:nvSpPr>
          <p:spPr>
            <a:xfrm>
              <a:off x="3039975" y="2928954"/>
              <a:ext cx="1851000" cy="1617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597" name="Google Shape;597;p58"/>
            <p:cNvSpPr/>
            <p:nvPr/>
          </p:nvSpPr>
          <p:spPr>
            <a:xfrm>
              <a:off x="4236950" y="3899475"/>
              <a:ext cx="1851000" cy="1244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598" name="Google Shape;598;p58"/>
          <p:cNvSpPr txBox="1"/>
          <p:nvPr>
            <p:ph idx="2" type="subTitle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Scale &amp; Categories</a:t>
            </a:r>
            <a:endParaRPr/>
          </a:p>
        </p:txBody>
      </p:sp>
      <p:sp>
        <p:nvSpPr>
          <p:cNvPr id="599" name="Google Shape;599;p58"/>
          <p:cNvSpPr txBox="1"/>
          <p:nvPr>
            <p:ph idx="3" type="subTitle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600" name="Google Shape;600;p58"/>
          <p:cNvSpPr txBox="1"/>
          <p:nvPr>
            <p:ph idx="6" type="body"/>
          </p:nvPr>
        </p:nvSpPr>
        <p:spPr>
          <a:xfrm>
            <a:off x="252600" y="2327025"/>
            <a:ext cx="2187000" cy="6462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01" name="Google Shape;601;p58"/>
          <p:cNvSpPr txBox="1"/>
          <p:nvPr>
            <p:ph idx="5" type="body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Massive Scale:</a:t>
            </a: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 Over 10M post metadata records.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Note: We only used at most 100,000 posts 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Selected Categories: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Fashion (11,911 influencers)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Travel (4,210 influencers)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Food (3,565 influencers)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Beauty (1,542 influencers)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2" name="Google Shape;602;p58"/>
          <p:cNvSpPr txBox="1"/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DATA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/>
          </a:p>
        </p:txBody>
      </p:sp>
      <p:sp>
        <p:nvSpPr>
          <p:cNvPr id="603" name="Google Shape;603;p58"/>
          <p:cNvSpPr txBox="1"/>
          <p:nvPr>
            <p:ph idx="7" type="body"/>
          </p:nvPr>
        </p:nvSpPr>
        <p:spPr>
          <a:xfrm>
            <a:off x="252600" y="2661750"/>
            <a:ext cx="1930200" cy="1212000"/>
          </a:xfrm>
          <a:prstGeom prst="rect">
            <a:avLst/>
          </a:prstGeom>
        </p:spPr>
        <p:txBody>
          <a:bodyPr anchorCtr="0" anchor="t" bIns="9000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Source: </a:t>
            </a:r>
            <a:r>
              <a:rPr lang="en"/>
              <a:t>Official Instagram Influencer Dataset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Scope: </a:t>
            </a:r>
            <a:r>
              <a:rPr lang="en"/>
              <a:t>33,935 unique influencer profiles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Breadth:</a:t>
            </a:r>
            <a:r>
              <a:rPr lang="en"/>
              <a:t> Spans 11 distinct content categories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04" name="Google Shape;604;p58"/>
          <p:cNvSpPr txBox="1"/>
          <p:nvPr>
            <p:ph idx="4" type="subTitle"/>
          </p:nvPr>
        </p:nvSpPr>
        <p:spPr>
          <a:xfrm>
            <a:off x="252600" y="809250"/>
            <a:ext cx="2801700" cy="921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u="sng"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Instagram Influencer Dataset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5" name="Google Shape;605;p58"/>
          <p:cNvSpPr txBox="1"/>
          <p:nvPr>
            <p:ph idx="1" type="body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Raw Data: </a:t>
            </a: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Follower counts, post likes, comments, and JSON post metadata.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Space Grotesk"/>
                <a:ea typeface="Space Grotesk"/>
                <a:cs typeface="Space Grotesk"/>
                <a:sym typeface="Space Grotesk"/>
              </a:rPr>
              <a:t>Engineered “Strategy” Label:</a:t>
            </a:r>
            <a:endParaRPr b="1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pace Grotesk"/>
                <a:ea typeface="Space Grotesk"/>
                <a:cs typeface="Space Grotesk"/>
                <a:sym typeface="Space Grotesk"/>
              </a:rPr>
              <a:t>We combine 5 variables into a single strategy item for the recommender:</a:t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</a:pPr>
            <a:r>
              <a:rPr i="1" lang="en">
                <a:latin typeface="Space Grotesk"/>
                <a:ea typeface="Space Grotesk"/>
                <a:cs typeface="Space Grotesk"/>
                <a:sym typeface="Space Grotesk"/>
              </a:rPr>
              <a:t>Time of Day + Media Type + Caption Length + Hashtag Count + Ad Status</a:t>
            </a:r>
            <a:endParaRPr i="1"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06" name="Google Shape;606;p58"/>
          <p:cNvSpPr/>
          <p:nvPr/>
        </p:nvSpPr>
        <p:spPr>
          <a:xfrm>
            <a:off x="2669427" y="4777621"/>
            <a:ext cx="418200" cy="365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9"/>
          <p:cNvSpPr txBox="1"/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3509"/>
              <a:t>ENGAGEMENT METRIC</a:t>
            </a:r>
            <a:endParaRPr sz="3509"/>
          </a:p>
        </p:txBody>
      </p:sp>
      <p:sp>
        <p:nvSpPr>
          <p:cNvPr id="612" name="Google Shape;612;p59"/>
          <p:cNvSpPr txBox="1"/>
          <p:nvPr>
            <p:ph idx="1" type="body"/>
          </p:nvPr>
        </p:nvSpPr>
        <p:spPr>
          <a:xfrm>
            <a:off x="252600" y="1135925"/>
            <a:ext cx="3901200" cy="3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100" u="sng">
              <a:highlight>
                <a:schemeClr val="accent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 u="sng">
                <a:highlight>
                  <a:schemeClr val="accent5"/>
                </a:highlight>
              </a:rPr>
              <a:t>Formula</a:t>
            </a:r>
            <a:endParaRPr sz="1300" u="sng">
              <a:highlight>
                <a:schemeClr val="accent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Raw Engagement:</a:t>
            </a:r>
            <a:br>
              <a:rPr lang="en" sz="1100"/>
            </a:br>
            <a:r>
              <a:rPr lang="en" sz="1100"/>
              <a:t>prioritize high-effort interactions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i="1" lang="en" sz="1100">
                <a:latin typeface="Space Grotesk"/>
                <a:ea typeface="Space Grotesk"/>
                <a:cs typeface="Space Grotesk"/>
                <a:sym typeface="Space Grotesk"/>
              </a:rPr>
              <a:t>Raw</a:t>
            </a:r>
            <a: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  <a:t> = Likes + (2 x Comments)</a:t>
            </a:r>
            <a:br>
              <a:rPr lang="en" sz="1100"/>
            </a:br>
            <a:endParaRPr sz="1100"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Logarithmic Normalization:</a:t>
            </a:r>
            <a:br>
              <a:rPr lang="en" sz="1100"/>
            </a:br>
            <a:r>
              <a:rPr lang="en" sz="1100"/>
              <a:t>scale the score against the user’s follower count to ensure fairness</a:t>
            </a:r>
            <a:br>
              <a:rPr lang="en" sz="1100"/>
            </a:br>
            <a:endParaRPr sz="1100"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Space Grotesk"/>
              <a:buChar char="○"/>
            </a:pPr>
            <a:r>
              <a:rPr b="1" i="1" lang="en" sz="1100">
                <a:latin typeface="Space Grotesk"/>
                <a:ea typeface="Space Grotesk"/>
                <a:cs typeface="Space Grotesk"/>
                <a:sym typeface="Space Grotesk"/>
              </a:rPr>
              <a:t>Engagement Score</a:t>
            </a:r>
            <a: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  <a:t> = log1p(</a:t>
            </a:r>
            <a:r>
              <a:rPr b="1" i="1" lang="en" sz="1100">
                <a:latin typeface="Space Grotesk"/>
                <a:ea typeface="Space Grotesk"/>
                <a:cs typeface="Space Grotesk"/>
                <a:sym typeface="Space Grotesk"/>
              </a:rPr>
              <a:t>Raw</a:t>
            </a:r>
            <a: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  <a:t>) /</a:t>
            </a:r>
            <a:b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  <a:t>		              log1p(</a:t>
            </a:r>
            <a:r>
              <a:rPr b="1" i="1" lang="en" sz="1100">
                <a:latin typeface="Space Grotesk"/>
                <a:ea typeface="Space Grotesk"/>
                <a:cs typeface="Space Grotesk"/>
                <a:sym typeface="Space Grotesk"/>
              </a:rPr>
              <a:t>followers</a:t>
            </a:r>
            <a:r>
              <a:rPr b="1" lang="en" sz="1100"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b="1" sz="1100"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3" name="Google Shape;613;p59"/>
          <p:cNvSpPr txBox="1"/>
          <p:nvPr>
            <p:ph idx="1" type="body"/>
          </p:nvPr>
        </p:nvSpPr>
        <p:spPr>
          <a:xfrm>
            <a:off x="4757300" y="270725"/>
            <a:ext cx="4134300" cy="180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300" u="sng">
                <a:highlight>
                  <a:schemeClr val="accent5"/>
                </a:highlight>
              </a:rPr>
              <a:t>Pseudo-Ratings</a:t>
            </a:r>
            <a:endParaRPr sz="1300" u="sng">
              <a:highlight>
                <a:schemeClr val="accent5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1100">
                <a:solidFill>
                  <a:schemeClr val="lt2"/>
                </a:solidFill>
              </a:rPr>
              <a:t>Quintile Ranking: Convert continuous scores into pseudo-ratings </a:t>
            </a:r>
            <a:r>
              <a:rPr i="1" lang="en" sz="1100">
                <a:solidFill>
                  <a:schemeClr val="lt2"/>
                </a:solidFill>
              </a:rPr>
              <a:t>(1 to 5)</a:t>
            </a:r>
            <a:r>
              <a:rPr lang="en" sz="1100">
                <a:solidFill>
                  <a:schemeClr val="lt2"/>
                </a:solidFill>
              </a:rPr>
              <a:t> for each influencer.</a:t>
            </a:r>
            <a:endParaRPr sz="11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en" sz="1100">
                <a:solidFill>
                  <a:schemeClr val="lt2"/>
                </a:solidFill>
              </a:rPr>
              <a:t>Defining a “hit":</a:t>
            </a:r>
            <a:endParaRPr sz="11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en" sz="1100">
                <a:solidFill>
                  <a:schemeClr val="lt2"/>
                </a:solidFill>
              </a:rPr>
              <a:t>Rank all user's posts against their own history</a:t>
            </a:r>
            <a:endParaRPr sz="11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en" sz="1100">
                <a:solidFill>
                  <a:schemeClr val="lt2"/>
                </a:solidFill>
              </a:rPr>
              <a:t>Only posts with </a:t>
            </a:r>
            <a:r>
              <a:rPr i="1" lang="en" sz="1100">
                <a:solidFill>
                  <a:schemeClr val="lt2"/>
                </a:solidFill>
              </a:rPr>
              <a:t>rating = 5 </a:t>
            </a:r>
            <a:r>
              <a:rPr lang="en" sz="1100">
                <a:solidFill>
                  <a:schemeClr val="lt2"/>
                </a:solidFill>
              </a:rPr>
              <a:t>are flagged as </a:t>
            </a:r>
            <a:r>
              <a:rPr i="1" lang="en" sz="1100">
                <a:solidFill>
                  <a:schemeClr val="lt2"/>
                </a:solidFill>
              </a:rPr>
              <a:t>“relevant"</a:t>
            </a:r>
            <a:r>
              <a:rPr lang="en" sz="1100">
                <a:solidFill>
                  <a:schemeClr val="lt2"/>
                </a:solidFill>
              </a:rPr>
              <a:t> for the test set</a:t>
            </a:r>
            <a:endParaRPr sz="11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en" sz="1100">
                <a:solidFill>
                  <a:schemeClr val="lt2"/>
                </a:solidFill>
              </a:rPr>
              <a:t>If model recommends a 5-scored strategy</a:t>
            </a:r>
            <a:br>
              <a:rPr lang="en" sz="1100">
                <a:solidFill>
                  <a:schemeClr val="lt2"/>
                </a:solidFill>
              </a:rPr>
            </a:br>
            <a:r>
              <a:rPr lang="en" sz="1100">
                <a:solidFill>
                  <a:schemeClr val="lt2"/>
                </a:solidFill>
              </a:rPr>
              <a:t>		→ </a:t>
            </a:r>
            <a:r>
              <a:rPr i="1" lang="en" sz="1100">
                <a:solidFill>
                  <a:schemeClr val="lt2"/>
                </a:solidFill>
                <a:highlight>
                  <a:srgbClr val="010409"/>
                </a:highlight>
              </a:rPr>
              <a:t>successful</a:t>
            </a:r>
            <a:endParaRPr i="1" sz="1100">
              <a:solidFill>
                <a:schemeClr val="lt2"/>
              </a:solidFill>
              <a:highlight>
                <a:srgbClr val="010409"/>
              </a:highlight>
            </a:endParaRPr>
          </a:p>
        </p:txBody>
      </p:sp>
      <p:pic>
        <p:nvPicPr>
          <p:cNvPr id="614" name="Google Shape;61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3800" y="2571750"/>
            <a:ext cx="4685400" cy="2307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0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</a:pPr>
            <a:r>
              <a:rPr lang="en"/>
              <a:t>Models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1"/>
          <p:cNvSpPr/>
          <p:nvPr/>
        </p:nvSpPr>
        <p:spPr>
          <a:xfrm>
            <a:off x="742950" y="1493325"/>
            <a:ext cx="3727800" cy="33978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114900" lIns="114900" spcFirstLastPara="1" rIns="114900" wrap="square" tIns="11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25" name="Google Shape;625;p61"/>
          <p:cNvSpPr/>
          <p:nvPr/>
        </p:nvSpPr>
        <p:spPr>
          <a:xfrm>
            <a:off x="4673325" y="1493325"/>
            <a:ext cx="3727800" cy="3397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114900" lIns="114900" spcFirstLastPara="1" rIns="114900" wrap="square" tIns="114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26" name="Google Shape;626;p61"/>
          <p:cNvSpPr txBox="1"/>
          <p:nvPr>
            <p:ph idx="1" type="body"/>
          </p:nvPr>
        </p:nvSpPr>
        <p:spPr>
          <a:xfrm>
            <a:off x="994950" y="1527075"/>
            <a:ext cx="3223800" cy="2360400"/>
          </a:xfrm>
          <a:prstGeom prst="rect">
            <a:avLst/>
          </a:prstGeom>
        </p:spPr>
        <p:txBody>
          <a:bodyPr anchorCtr="0" anchor="t" bIns="114900" lIns="114900" spcFirstLastPara="1" rIns="114900" wrap="square" tIns="114900">
            <a:noAutofit/>
          </a:bodyPr>
          <a:lstStyle/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Char char="●"/>
            </a:pPr>
            <a:r>
              <a:rPr b="1" lang="en" sz="1257"/>
              <a:t>Core Logic:</a:t>
            </a:r>
            <a:br>
              <a:rPr lang="en" sz="1257"/>
            </a:br>
            <a:r>
              <a:rPr lang="en" sz="1257"/>
              <a:t>Recommends strategies based on overall performance across the entire training dataset</a:t>
            </a:r>
            <a:endParaRPr sz="1257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Char char="●"/>
            </a:pPr>
            <a:r>
              <a:rPr b="1" lang="en" sz="1257"/>
              <a:t>Calculation:</a:t>
            </a:r>
            <a:br>
              <a:rPr lang="en" sz="1257"/>
            </a:br>
            <a:r>
              <a:rPr lang="en" sz="1257"/>
              <a:t>Compute global mean engagement score for each strategy</a:t>
            </a:r>
            <a:endParaRPr sz="1257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Char char="●"/>
            </a:pPr>
            <a:r>
              <a:rPr b="1" lang="en" sz="1257"/>
              <a:t>Personalization:</a:t>
            </a:r>
            <a:br>
              <a:rPr lang="en" sz="1257"/>
            </a:br>
            <a:r>
              <a:rPr lang="en" sz="1257"/>
              <a:t>None - same Top 5 recommendations regardless of their niche</a:t>
            </a:r>
            <a:endParaRPr sz="1257"/>
          </a:p>
          <a:p>
            <a:pPr indent="0" lvl="0" marL="0" rtl="0" algn="l">
              <a:spcBef>
                <a:spcPts val="0"/>
              </a:spcBef>
              <a:spcAft>
                <a:spcPts val="1005"/>
              </a:spcAft>
              <a:buSzPts val="1257"/>
              <a:buNone/>
            </a:pPr>
            <a:r>
              <a:t/>
            </a:r>
            <a:endParaRPr sz="1257"/>
          </a:p>
        </p:txBody>
      </p:sp>
      <p:sp>
        <p:nvSpPr>
          <p:cNvPr id="627" name="Google Shape;627;p61"/>
          <p:cNvSpPr txBox="1"/>
          <p:nvPr>
            <p:ph idx="6" type="subTitle"/>
          </p:nvPr>
        </p:nvSpPr>
        <p:spPr>
          <a:xfrm>
            <a:off x="1474949" y="1164275"/>
            <a:ext cx="2263800" cy="305100"/>
          </a:xfrm>
          <a:prstGeom prst="rect">
            <a:avLst/>
          </a:prstGeom>
        </p:spPr>
        <p:txBody>
          <a:bodyPr anchorCtr="0" anchor="b" bIns="114900" lIns="114900" spcFirstLastPara="1" rIns="114900" wrap="square" tIns="1149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85"/>
              <a:buNone/>
            </a:pPr>
            <a:r>
              <a:rPr lang="en" sz="1885"/>
              <a:t>GLOBAL BASELINE</a:t>
            </a:r>
            <a:endParaRPr sz="1885"/>
          </a:p>
        </p:txBody>
      </p:sp>
      <p:sp>
        <p:nvSpPr>
          <p:cNvPr id="628" name="Google Shape;628;p61"/>
          <p:cNvSpPr txBox="1"/>
          <p:nvPr>
            <p:ph idx="5" type="body"/>
          </p:nvPr>
        </p:nvSpPr>
        <p:spPr>
          <a:xfrm>
            <a:off x="4925325" y="1493325"/>
            <a:ext cx="3223800" cy="2427900"/>
          </a:xfrm>
          <a:prstGeom prst="rect">
            <a:avLst/>
          </a:prstGeom>
        </p:spPr>
        <p:txBody>
          <a:bodyPr anchorCtr="0" anchor="t" bIns="114900" lIns="114900" spcFirstLastPara="1" rIns="114900" wrap="square" tIns="114900">
            <a:noAutofit/>
          </a:bodyPr>
          <a:lstStyle/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Char char="●"/>
            </a:pPr>
            <a:r>
              <a:rPr b="1" lang="en" sz="1257"/>
              <a:t>Core Logic:</a:t>
            </a:r>
            <a:br>
              <a:rPr lang="en" sz="1257"/>
            </a:br>
            <a:r>
              <a:rPr lang="en" sz="1257"/>
              <a:t>Recommends what performs best within an influencer's community</a:t>
            </a:r>
            <a:endParaRPr sz="1257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Char char="●"/>
            </a:pPr>
            <a:r>
              <a:rPr b="1" lang="en" sz="1257"/>
              <a:t>Calculation:</a:t>
            </a:r>
            <a:br>
              <a:rPr lang="en" sz="1257"/>
            </a:br>
            <a:r>
              <a:rPr lang="en" sz="1257"/>
              <a:t>Compute mean engagement score within influencers' profile category</a:t>
            </a:r>
            <a:endParaRPr sz="1257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Char char="●"/>
            </a:pPr>
            <a:r>
              <a:rPr b="1" lang="en" sz="1257"/>
              <a:t>Personalization:</a:t>
            </a:r>
            <a:br>
              <a:rPr lang="en" sz="1257"/>
            </a:br>
            <a:r>
              <a:rPr lang="en" sz="1257"/>
              <a:t>Segment-based</a:t>
            </a:r>
            <a:endParaRPr sz="1257"/>
          </a:p>
          <a:p>
            <a:pPr indent="0" lvl="0" marL="0" rtl="0" algn="l">
              <a:spcBef>
                <a:spcPts val="0"/>
              </a:spcBef>
              <a:spcAft>
                <a:spcPts val="1005"/>
              </a:spcAft>
              <a:buSzPts val="1257"/>
              <a:buNone/>
            </a:pPr>
            <a:r>
              <a:t/>
            </a:r>
            <a:endParaRPr sz="1257"/>
          </a:p>
        </p:txBody>
      </p:sp>
      <p:sp>
        <p:nvSpPr>
          <p:cNvPr id="629" name="Google Shape;629;p61"/>
          <p:cNvSpPr txBox="1"/>
          <p:nvPr>
            <p:ph idx="8" type="subTitle"/>
          </p:nvPr>
        </p:nvSpPr>
        <p:spPr>
          <a:xfrm>
            <a:off x="4781168" y="1164275"/>
            <a:ext cx="3512100" cy="305100"/>
          </a:xfrm>
          <a:prstGeom prst="rect">
            <a:avLst/>
          </a:prstGeom>
        </p:spPr>
        <p:txBody>
          <a:bodyPr anchorCtr="0" anchor="b" bIns="114900" lIns="114900" spcFirstLastPara="1" rIns="114900" wrap="square" tIns="1149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85"/>
              <a:buNone/>
            </a:pPr>
            <a:r>
              <a:rPr lang="en" sz="1885"/>
              <a:t>CATEGORY BASELINE</a:t>
            </a:r>
            <a:endParaRPr sz="1885"/>
          </a:p>
        </p:txBody>
      </p:sp>
      <p:sp>
        <p:nvSpPr>
          <p:cNvPr id="630" name="Google Shape;630;p61"/>
          <p:cNvSpPr txBox="1"/>
          <p:nvPr>
            <p:ph idx="9" type="title"/>
          </p:nvPr>
        </p:nvSpPr>
        <p:spPr>
          <a:xfrm>
            <a:off x="252600" y="522925"/>
            <a:ext cx="7446300" cy="61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MODELS: BASELINES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2"/>
          <p:cNvSpPr/>
          <p:nvPr/>
        </p:nvSpPr>
        <p:spPr>
          <a:xfrm>
            <a:off x="743550" y="4886747"/>
            <a:ext cx="2991000" cy="2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36" name="Google Shape;636;p62"/>
          <p:cNvSpPr/>
          <p:nvPr/>
        </p:nvSpPr>
        <p:spPr>
          <a:xfrm>
            <a:off x="6259200" y="4003350"/>
            <a:ext cx="2884800" cy="11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37" name="Google Shape;637;p62"/>
          <p:cNvSpPr/>
          <p:nvPr/>
        </p:nvSpPr>
        <p:spPr>
          <a:xfrm>
            <a:off x="8400300" y="2671550"/>
            <a:ext cx="743700" cy="1254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38" name="Google Shape;638;p62"/>
          <p:cNvSpPr txBox="1"/>
          <p:nvPr>
            <p:ph type="title"/>
          </p:nvPr>
        </p:nvSpPr>
        <p:spPr>
          <a:xfrm>
            <a:off x="229200" y="147675"/>
            <a:ext cx="52005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MODELS: COLLABORATIVE</a:t>
            </a:r>
            <a:endParaRPr/>
          </a:p>
        </p:txBody>
      </p:sp>
      <p:sp>
        <p:nvSpPr>
          <p:cNvPr id="639" name="Google Shape;639;p62"/>
          <p:cNvSpPr/>
          <p:nvPr/>
        </p:nvSpPr>
        <p:spPr>
          <a:xfrm>
            <a:off x="1254750" y="2431200"/>
            <a:ext cx="3661800" cy="19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Mathematical Approach</a:t>
            </a:r>
            <a:endParaRPr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8407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7"/>
              <a:buFont typeface="Space Grotesk"/>
              <a:buChar char="●"/>
            </a:pPr>
            <a:r>
              <a:rPr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Influencer-by-strategy </a:t>
            </a:r>
            <a:r>
              <a:rPr b="1"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interaction matrix</a:t>
            </a:r>
            <a:r>
              <a:rPr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using historical engagement scores</a:t>
            </a:r>
            <a:endParaRPr sz="1257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8407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7"/>
              <a:buFont typeface="Space Grotesk"/>
              <a:buChar char="●"/>
            </a:pPr>
            <a:r>
              <a:rPr b="1"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Cosine Similarity</a:t>
            </a:r>
            <a:r>
              <a:rPr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 between users</a:t>
            </a:r>
            <a:endParaRPr sz="1257">
              <a:solidFill>
                <a:schemeClr val="lt2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7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40" name="Google Shape;640;p62"/>
          <p:cNvSpPr/>
          <p:nvPr/>
        </p:nvSpPr>
        <p:spPr>
          <a:xfrm>
            <a:off x="4457200" y="270725"/>
            <a:ext cx="4173600" cy="2301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How Recommendations are Generated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i="1"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Context: </a:t>
            </a: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 and B have highly correlated engagement across past strategies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system recommends B's top-performing strategies to A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1" name="Google Shape;641;p62"/>
          <p:cNvSpPr/>
          <p:nvPr/>
        </p:nvSpPr>
        <p:spPr>
          <a:xfrm>
            <a:off x="4781350" y="3066000"/>
            <a:ext cx="3376500" cy="1582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Level of Personalization</a:t>
            </a:r>
            <a:endParaRPr>
              <a:solidFill>
                <a:schemeClr val="accent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 (User-Specific)</a:t>
            </a:r>
            <a:endParaRPr sz="125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42" name="Google Shape;642;p62"/>
          <p:cNvSpPr/>
          <p:nvPr/>
        </p:nvSpPr>
        <p:spPr>
          <a:xfrm>
            <a:off x="252425" y="1012875"/>
            <a:ext cx="4319700" cy="12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Core Logic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7"/>
              <a:buFont typeface="Space Grotesk"/>
              <a:buChar char="●"/>
            </a:pPr>
            <a:r>
              <a:rPr lang="en" sz="1257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Recommends strategies by finding creators with similar audience interaction history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3"/>
          <p:cNvSpPr/>
          <p:nvPr/>
        </p:nvSpPr>
        <p:spPr>
          <a:xfrm>
            <a:off x="743550" y="4886747"/>
            <a:ext cx="2991000" cy="2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48" name="Google Shape;648;p63"/>
          <p:cNvSpPr/>
          <p:nvPr/>
        </p:nvSpPr>
        <p:spPr>
          <a:xfrm>
            <a:off x="6259200" y="4003350"/>
            <a:ext cx="2884800" cy="114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49" name="Google Shape;649;p63"/>
          <p:cNvSpPr/>
          <p:nvPr/>
        </p:nvSpPr>
        <p:spPr>
          <a:xfrm>
            <a:off x="8400300" y="2671550"/>
            <a:ext cx="743700" cy="1254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0" name="Google Shape;650;p63"/>
          <p:cNvSpPr txBox="1"/>
          <p:nvPr>
            <p:ph type="title"/>
          </p:nvPr>
        </p:nvSpPr>
        <p:spPr>
          <a:xfrm>
            <a:off x="229200" y="147675"/>
            <a:ext cx="5200500" cy="8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MODELS: CONTENT-BASED</a:t>
            </a:r>
            <a:endParaRPr/>
          </a:p>
        </p:txBody>
      </p:sp>
      <p:sp>
        <p:nvSpPr>
          <p:cNvPr id="651" name="Google Shape;651;p63"/>
          <p:cNvSpPr/>
          <p:nvPr/>
        </p:nvSpPr>
        <p:spPr>
          <a:xfrm>
            <a:off x="1254750" y="2431200"/>
            <a:ext cx="3661800" cy="195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Mathematical Approach</a:t>
            </a:r>
            <a:endParaRPr>
              <a:solidFill>
                <a:schemeClr val="lt2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8407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7"/>
              <a:buFont typeface="Space Grotesk"/>
              <a:buChar char="●"/>
            </a:pPr>
            <a:r>
              <a:rPr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Process historical post captions</a:t>
            </a:r>
            <a:br>
              <a:rPr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using </a:t>
            </a:r>
            <a:r>
              <a:rPr b="1" lang="en" sz="1257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rPr>
              <a:t>TF-IDF</a:t>
            </a:r>
            <a:endParaRPr b="1" sz="1257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652" name="Google Shape;652;p63"/>
          <p:cNvSpPr/>
          <p:nvPr/>
        </p:nvSpPr>
        <p:spPr>
          <a:xfrm>
            <a:off x="4457200" y="270725"/>
            <a:ext cx="4173600" cy="2301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How Recommendations are Generated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 the linguistic profile of a creator's best-performing captions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Highlight strategies tied to posts with</a:t>
            </a:r>
            <a:b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highly similar text patterns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3" name="Google Shape;653;p63"/>
          <p:cNvSpPr/>
          <p:nvPr/>
        </p:nvSpPr>
        <p:spPr>
          <a:xfrm>
            <a:off x="4781350" y="3066000"/>
            <a:ext cx="3376500" cy="1582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Level of Personalization</a:t>
            </a:r>
            <a:endParaRPr>
              <a:solidFill>
                <a:schemeClr val="accent5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rPr>
              <a:t>Very High (Content-Specific)</a:t>
            </a:r>
            <a:endParaRPr sz="1250">
              <a:solidFill>
                <a:schemeClr val="accent5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54" name="Google Shape;654;p63"/>
          <p:cNvSpPr/>
          <p:nvPr/>
        </p:nvSpPr>
        <p:spPr>
          <a:xfrm>
            <a:off x="252425" y="1012875"/>
            <a:ext cx="4319700" cy="1254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Core Logic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840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7"/>
              <a:buFont typeface="Space Grotesk"/>
              <a:buChar char="●"/>
            </a:pPr>
            <a:r>
              <a:rPr lang="en" sz="1257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Recommends strategies based on textual content and writing style of past posts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4"/>
          <p:cNvSpPr txBox="1"/>
          <p:nvPr>
            <p:ph idx="23" type="title"/>
          </p:nvPr>
        </p:nvSpPr>
        <p:spPr>
          <a:xfrm>
            <a:off x="252425" y="270719"/>
            <a:ext cx="4216200" cy="4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MODELS: HYBRID</a:t>
            </a:r>
            <a:endParaRPr/>
          </a:p>
        </p:txBody>
      </p:sp>
      <p:sp>
        <p:nvSpPr>
          <p:cNvPr id="660" name="Google Shape;660;p64"/>
          <p:cNvSpPr/>
          <p:nvPr/>
        </p:nvSpPr>
        <p:spPr>
          <a:xfrm>
            <a:off x="273725" y="742950"/>
            <a:ext cx="5427600" cy="3312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Core Logic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Blend crowd-sourced predictive power of </a:t>
            </a:r>
            <a:r>
              <a:rPr b="1" i="1"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CF</a:t>
            </a: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with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personal writing style patterns (</a:t>
            </a:r>
            <a:r>
              <a:rPr b="1" i="1"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content</a:t>
            </a: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) of individual creator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Ensemble Mechanism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Extract individual preference scores from each model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797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Compute a unified ranking score for each strategy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Hyperparameter Tuning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balancing weight is optimized to find the perfect equilibrium between matching trends and maintaining individual content consistency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61" name="Google Shape;661;p64"/>
          <p:cNvSpPr/>
          <p:nvPr/>
        </p:nvSpPr>
        <p:spPr>
          <a:xfrm>
            <a:off x="5116100" y="2571750"/>
            <a:ext cx="3775500" cy="2115300"/>
          </a:xfrm>
          <a:prstGeom prst="rect">
            <a:avLst/>
          </a:prstGeom>
          <a:solidFill>
            <a:schemeClr val="accent2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Why Hybrid Helps</a:t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Overcome data sparsity issues of CF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Space Grotesk"/>
              <a:buChar char="●"/>
            </a:pPr>
            <a:r>
              <a:rPr lang="en" sz="125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Avoid “filter bubble" repetition of content-based</a:t>
            </a:r>
            <a:endParaRPr sz="125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5"/>
          <p:cNvSpPr txBox="1"/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8205"/>
              <a:buFont typeface="Arial"/>
              <a:buNone/>
            </a:pPr>
            <a:r>
              <a:rPr lang="en" sz="3509"/>
              <a:t>EVALUATION</a:t>
            </a:r>
            <a:endParaRPr sz="3509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0826"/>
              <a:buNone/>
            </a:pPr>
            <a:r>
              <a:t/>
            </a:r>
            <a:endParaRPr sz="3509"/>
          </a:p>
        </p:txBody>
      </p:sp>
      <p:grpSp>
        <p:nvGrpSpPr>
          <p:cNvPr id="667" name="Google Shape;667;p65"/>
          <p:cNvGrpSpPr/>
          <p:nvPr/>
        </p:nvGrpSpPr>
        <p:grpSpPr>
          <a:xfrm>
            <a:off x="8007249" y="426791"/>
            <a:ext cx="669779" cy="135923"/>
            <a:chOff x="2707093" y="5369025"/>
            <a:chExt cx="531444" cy="107850"/>
          </a:xfrm>
        </p:grpSpPr>
        <p:sp>
          <p:nvSpPr>
            <p:cNvPr id="668" name="Google Shape;668;p65"/>
            <p:cNvSpPr/>
            <p:nvPr/>
          </p:nvSpPr>
          <p:spPr>
            <a:xfrm>
              <a:off x="3128712" y="5369025"/>
              <a:ext cx="36375" cy="35975"/>
            </a:xfrm>
            <a:custGeom>
              <a:rect b="b" l="l" r="r" t="t"/>
              <a:pathLst>
                <a:path extrusionOk="0" h="1439" w="1455">
                  <a:moveTo>
                    <a:pt x="1" y="1"/>
                  </a:moveTo>
                  <a:lnTo>
                    <a:pt x="1" y="1438"/>
                  </a:lnTo>
                  <a:lnTo>
                    <a:pt x="1454" y="143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69" name="Google Shape;669;p65"/>
            <p:cNvSpPr/>
            <p:nvPr/>
          </p:nvSpPr>
          <p:spPr>
            <a:xfrm>
              <a:off x="2707093" y="5440925"/>
              <a:ext cx="109825" cy="35950"/>
            </a:xfrm>
            <a:custGeom>
              <a:rect b="b" l="l" r="r" t="t"/>
              <a:pathLst>
                <a:path extrusionOk="0" h="1438" w="4393">
                  <a:moveTo>
                    <a:pt x="1" y="0"/>
                  </a:moveTo>
                  <a:lnTo>
                    <a:pt x="1" y="1438"/>
                  </a:lnTo>
                  <a:lnTo>
                    <a:pt x="4393" y="1438"/>
                  </a:lnTo>
                  <a:lnTo>
                    <a:pt x="439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2917695" y="5369025"/>
              <a:ext cx="110225" cy="107850"/>
            </a:xfrm>
            <a:custGeom>
              <a:rect b="b" l="l" r="r" t="t"/>
              <a:pathLst>
                <a:path extrusionOk="0" h="4314" w="4409">
                  <a:moveTo>
                    <a:pt x="2955" y="1438"/>
                  </a:moveTo>
                  <a:lnTo>
                    <a:pt x="2955" y="2876"/>
                  </a:lnTo>
                  <a:lnTo>
                    <a:pt x="1454" y="2876"/>
                  </a:lnTo>
                  <a:lnTo>
                    <a:pt x="1454" y="1438"/>
                  </a:lnTo>
                  <a:close/>
                  <a:moveTo>
                    <a:pt x="0" y="1"/>
                  </a:moveTo>
                  <a:lnTo>
                    <a:pt x="0" y="1438"/>
                  </a:lnTo>
                  <a:lnTo>
                    <a:pt x="0" y="2876"/>
                  </a:lnTo>
                  <a:lnTo>
                    <a:pt x="0" y="4282"/>
                  </a:lnTo>
                  <a:lnTo>
                    <a:pt x="0" y="4314"/>
                  </a:lnTo>
                  <a:lnTo>
                    <a:pt x="4408" y="4314"/>
                  </a:lnTo>
                  <a:lnTo>
                    <a:pt x="4408" y="4282"/>
                  </a:lnTo>
                  <a:lnTo>
                    <a:pt x="44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3165062" y="5404975"/>
              <a:ext cx="36750" cy="35975"/>
            </a:xfrm>
            <a:custGeom>
              <a:rect b="b" l="l" r="r" t="t"/>
              <a:pathLst>
                <a:path extrusionOk="0" h="1439" w="1470">
                  <a:moveTo>
                    <a:pt x="0" y="0"/>
                  </a:moveTo>
                  <a:lnTo>
                    <a:pt x="0" y="1438"/>
                  </a:lnTo>
                  <a:lnTo>
                    <a:pt x="1470" y="1438"/>
                  </a:lnTo>
                  <a:lnTo>
                    <a:pt x="1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3128712" y="5440925"/>
              <a:ext cx="36375" cy="35950"/>
            </a:xfrm>
            <a:custGeom>
              <a:rect b="b" l="l" r="r" t="t"/>
              <a:pathLst>
                <a:path extrusionOk="0" h="1438" w="1455">
                  <a:moveTo>
                    <a:pt x="1" y="0"/>
                  </a:moveTo>
                  <a:lnTo>
                    <a:pt x="1" y="1438"/>
                  </a:lnTo>
                  <a:lnTo>
                    <a:pt x="1454" y="143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3" name="Google Shape;673;p65"/>
            <p:cNvSpPr/>
            <p:nvPr/>
          </p:nvSpPr>
          <p:spPr>
            <a:xfrm>
              <a:off x="3201787" y="5369025"/>
              <a:ext cx="36750" cy="35975"/>
            </a:xfrm>
            <a:custGeom>
              <a:rect b="b" l="l" r="r" t="t"/>
              <a:pathLst>
                <a:path extrusionOk="0" h="1439" w="1470">
                  <a:moveTo>
                    <a:pt x="1" y="1"/>
                  </a:moveTo>
                  <a:lnTo>
                    <a:pt x="1" y="1438"/>
                  </a:lnTo>
                  <a:lnTo>
                    <a:pt x="1470" y="1438"/>
                  </a:lnTo>
                  <a:lnTo>
                    <a:pt x="14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74" name="Google Shape;674;p65"/>
            <p:cNvSpPr/>
            <p:nvPr/>
          </p:nvSpPr>
          <p:spPr>
            <a:xfrm>
              <a:off x="3201787" y="5440925"/>
              <a:ext cx="36750" cy="35950"/>
            </a:xfrm>
            <a:custGeom>
              <a:rect b="b" l="l" r="r" t="t"/>
              <a:pathLst>
                <a:path extrusionOk="0" h="1438" w="1470">
                  <a:moveTo>
                    <a:pt x="1" y="0"/>
                  </a:moveTo>
                  <a:lnTo>
                    <a:pt x="1" y="1438"/>
                  </a:lnTo>
                  <a:lnTo>
                    <a:pt x="1470" y="1438"/>
                  </a:lnTo>
                  <a:lnTo>
                    <a:pt x="14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675" name="Google Shape;675;p65"/>
          <p:cNvSpPr/>
          <p:nvPr/>
        </p:nvSpPr>
        <p:spPr>
          <a:xfrm>
            <a:off x="5540375" y="2101850"/>
            <a:ext cx="3390900" cy="2789400"/>
          </a:xfrm>
          <a:prstGeom prst="rect">
            <a:avLst/>
          </a:prstGeom>
          <a:solidFill>
            <a:srgbClr val="F6B5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76" name="Google Shape;676;p65"/>
          <p:cNvSpPr txBox="1"/>
          <p:nvPr>
            <p:ph idx="1" type="subTitle"/>
          </p:nvPr>
        </p:nvSpPr>
        <p:spPr>
          <a:xfrm>
            <a:off x="520700" y="1000950"/>
            <a:ext cx="8156400" cy="3675000"/>
          </a:xfrm>
          <a:prstGeom prst="rect">
            <a:avLst/>
          </a:prstGeom>
        </p:spPr>
        <p:txBody>
          <a:bodyPr anchorCtr="0" anchor="t" bIns="114900" lIns="114900" spcFirstLastPara="1" rIns="114900" wrap="square" tIns="114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TIME-BASED DATA SPLITTING</a:t>
            </a:r>
            <a:endParaRPr sz="14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Posts are sorted by </a:t>
            </a:r>
            <a:r>
              <a:rPr b="1" i="1" lang="en" sz="1257"/>
              <a:t>publication timestamp</a:t>
            </a:r>
            <a:r>
              <a:rPr lang="en" sz="1257"/>
              <a:t> for all creators</a:t>
            </a:r>
            <a:endParaRPr sz="1257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Training data: </a:t>
            </a:r>
            <a:r>
              <a:rPr b="1" i="1" lang="en" sz="1257"/>
              <a:t>older 80%</a:t>
            </a:r>
            <a:r>
              <a:rPr lang="en" sz="1257"/>
              <a:t> posts</a:t>
            </a:r>
            <a:br>
              <a:rPr lang="en" sz="1257"/>
            </a:br>
            <a:r>
              <a:rPr lang="en" sz="1257"/>
              <a:t>Testing data: most </a:t>
            </a:r>
            <a:r>
              <a:rPr b="1" i="1" lang="en" sz="1257"/>
              <a:t>recent 20%</a:t>
            </a:r>
            <a:r>
              <a:rPr lang="en" sz="1257"/>
              <a:t> posts</a:t>
            </a:r>
            <a:endParaRPr sz="1257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Real-world simulation:</a:t>
            </a:r>
            <a:endParaRPr sz="1257"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avoid data leakage</a:t>
            </a:r>
            <a:endParaRPr sz="1257"/>
          </a:p>
          <a:p>
            <a: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mimic live app scenario (predict what to </a:t>
            </a:r>
            <a:r>
              <a:rPr b="1" i="1" lang="en" sz="1257"/>
              <a:t>do next</a:t>
            </a:r>
            <a:r>
              <a:rPr lang="en" sz="1257"/>
              <a:t> based entirely on history)</a:t>
            </a:r>
            <a:endParaRPr sz="125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7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RANKING METRICS</a:t>
            </a:r>
            <a:endParaRPr b="1" sz="1400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Strategy in test set is marked as a successful </a:t>
            </a:r>
            <a:r>
              <a:rPr b="1" i="1" lang="en" sz="1257"/>
              <a:t>“Hit"</a:t>
            </a:r>
            <a:r>
              <a:rPr lang="en" sz="1257"/>
              <a:t> if it lands in the creator's </a:t>
            </a:r>
            <a:r>
              <a:rPr b="1" i="1" lang="en" sz="1257"/>
              <a:t>top 20% </a:t>
            </a:r>
            <a:r>
              <a:rPr lang="en" sz="1257"/>
              <a:t>of historical engagement</a:t>
            </a:r>
            <a:endParaRPr sz="1257"/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Evaluate models based on a list of 5 strategies using industry standard:</a:t>
            </a:r>
            <a:endParaRPr sz="1257"/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Precision@5</a:t>
            </a:r>
            <a:endParaRPr sz="1257"/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Recall@5</a:t>
            </a:r>
            <a:endParaRPr sz="1257"/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NDCG@5</a:t>
            </a:r>
            <a:endParaRPr sz="1257"/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SzPts val="1257"/>
              <a:buNone/>
            </a:pPr>
            <a:r>
              <a:rPr lang="en" sz="1257"/>
              <a:t>Hit-Rate@5</a:t>
            </a:r>
            <a:endParaRPr sz="1257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66"/>
          <p:cNvGrpSpPr/>
          <p:nvPr/>
        </p:nvGrpSpPr>
        <p:grpSpPr>
          <a:xfrm>
            <a:off x="243233" y="1237531"/>
            <a:ext cx="4906694" cy="3653428"/>
            <a:chOff x="243225" y="2826700"/>
            <a:chExt cx="2772300" cy="2064200"/>
          </a:xfrm>
        </p:grpSpPr>
        <p:sp>
          <p:nvSpPr>
            <p:cNvPr id="682" name="Google Shape;682;p66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61800" lIns="161800" spcFirstLastPara="1" rIns="161800" wrap="square" tIns="16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8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83" name="Google Shape;683;p66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61800" lIns="161800" spcFirstLastPara="1" rIns="161800" wrap="square" tIns="16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8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684" name="Google Shape;684;p66"/>
          <p:cNvSpPr txBox="1"/>
          <p:nvPr>
            <p:ph idx="5" type="body"/>
          </p:nvPr>
        </p:nvSpPr>
        <p:spPr>
          <a:xfrm>
            <a:off x="5149925" y="1470850"/>
            <a:ext cx="3868500" cy="2643300"/>
          </a:xfrm>
          <a:prstGeom prst="rect">
            <a:avLst/>
          </a:prstGeom>
        </p:spPr>
        <p:txBody>
          <a:bodyPr anchorCtr="0" anchor="t" bIns="148425" lIns="148425" spcFirstLastPara="1" rIns="148425" wrap="square" tIns="148425">
            <a:noAutofit/>
          </a:bodyPr>
          <a:lstStyle/>
          <a:p>
            <a:pPr indent="-3316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4"/>
              <a:buChar char="●"/>
            </a:pPr>
            <a:r>
              <a:rPr lang="en" sz="1624"/>
              <a:t>The strongest personalized methods outperform the baselines at n=10,000</a:t>
            </a:r>
            <a:endParaRPr sz="162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4"/>
          </a:p>
          <a:p>
            <a:pPr indent="-3316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4"/>
              <a:buChar char="●"/>
            </a:pPr>
            <a:r>
              <a:rPr lang="en" sz="1624"/>
              <a:t>Content-based and Hybrid tie for the best ranking performance at n=10,000</a:t>
            </a:r>
            <a:endParaRPr sz="1624"/>
          </a:p>
        </p:txBody>
      </p:sp>
      <p:sp>
        <p:nvSpPr>
          <p:cNvPr id="685" name="Google Shape;685;p66"/>
          <p:cNvSpPr txBox="1"/>
          <p:nvPr>
            <p:ph idx="1" type="subTitle"/>
          </p:nvPr>
        </p:nvSpPr>
        <p:spPr>
          <a:xfrm>
            <a:off x="458433" y="1237525"/>
            <a:ext cx="2704200" cy="429600"/>
          </a:xfrm>
          <a:prstGeom prst="rect">
            <a:avLst/>
          </a:prstGeom>
        </p:spPr>
        <p:txBody>
          <a:bodyPr anchorCtr="0" anchor="b" bIns="161800" lIns="161800" spcFirstLastPara="1" rIns="161800" wrap="square" tIns="161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55"/>
              <a:buNone/>
            </a:pPr>
            <a:r>
              <a:rPr lang="en" sz="2655"/>
              <a:t>n = 10,000</a:t>
            </a:r>
            <a:endParaRPr sz="2655"/>
          </a:p>
        </p:txBody>
      </p:sp>
      <p:sp>
        <p:nvSpPr>
          <p:cNvPr id="686" name="Google Shape;686;p66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PERFORMANCE RESULTS</a:t>
            </a:r>
            <a:endParaRPr/>
          </a:p>
        </p:txBody>
      </p:sp>
      <p:pic>
        <p:nvPicPr>
          <p:cNvPr id="687" name="Google Shape;68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00" y="1663675"/>
            <a:ext cx="4628050" cy="30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2" name="Google Shape;692;p67"/>
          <p:cNvGrpSpPr/>
          <p:nvPr/>
        </p:nvGrpSpPr>
        <p:grpSpPr>
          <a:xfrm>
            <a:off x="243233" y="1237531"/>
            <a:ext cx="4906694" cy="3653428"/>
            <a:chOff x="243225" y="2826700"/>
            <a:chExt cx="2772300" cy="2064200"/>
          </a:xfrm>
        </p:grpSpPr>
        <p:sp>
          <p:nvSpPr>
            <p:cNvPr id="693" name="Google Shape;693;p67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61800" lIns="161800" spcFirstLastPara="1" rIns="161800" wrap="square" tIns="16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8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694" name="Google Shape;694;p67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61800" lIns="161800" spcFirstLastPara="1" rIns="161800" wrap="square" tIns="16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8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695" name="Google Shape;695;p67"/>
          <p:cNvSpPr txBox="1"/>
          <p:nvPr>
            <p:ph idx="5" type="body"/>
          </p:nvPr>
        </p:nvSpPr>
        <p:spPr>
          <a:xfrm>
            <a:off x="5149925" y="1470850"/>
            <a:ext cx="3868500" cy="2643300"/>
          </a:xfrm>
          <a:prstGeom prst="rect">
            <a:avLst/>
          </a:prstGeom>
        </p:spPr>
        <p:txBody>
          <a:bodyPr anchorCtr="0" anchor="t" bIns="148425" lIns="148425" spcFirstLastPara="1" rIns="148425" wrap="square" tIns="148425">
            <a:noAutofit/>
          </a:bodyPr>
          <a:lstStyle/>
          <a:p>
            <a:pPr indent="-3316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4"/>
              <a:buChar char="●"/>
            </a:pPr>
            <a:r>
              <a:rPr lang="en" sz="1624"/>
              <a:t>The Global baseline becomes highly competitive at higher scale</a:t>
            </a:r>
            <a:endParaRPr sz="162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4"/>
          </a:p>
          <a:p>
            <a:pPr indent="-3316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24"/>
              <a:buChar char="●"/>
            </a:pPr>
            <a:r>
              <a:rPr lang="en" sz="1624"/>
              <a:t>Global viral trends shift model effectiveness</a:t>
            </a:r>
            <a:endParaRPr sz="1624"/>
          </a:p>
          <a:p>
            <a:pPr indent="0" lvl="0" marL="0" rtl="0" algn="l">
              <a:spcBef>
                <a:spcPts val="0"/>
              </a:spcBef>
              <a:spcAft>
                <a:spcPts val="1299"/>
              </a:spcAft>
              <a:buSzPts val="1624"/>
              <a:buNone/>
            </a:pPr>
            <a:r>
              <a:t/>
            </a:r>
            <a:endParaRPr sz="1624"/>
          </a:p>
        </p:txBody>
      </p:sp>
      <p:sp>
        <p:nvSpPr>
          <p:cNvPr id="696" name="Google Shape;696;p67"/>
          <p:cNvSpPr txBox="1"/>
          <p:nvPr>
            <p:ph idx="1" type="subTitle"/>
          </p:nvPr>
        </p:nvSpPr>
        <p:spPr>
          <a:xfrm>
            <a:off x="458433" y="1237525"/>
            <a:ext cx="2704200" cy="429600"/>
          </a:xfrm>
          <a:prstGeom prst="rect">
            <a:avLst/>
          </a:prstGeom>
        </p:spPr>
        <p:txBody>
          <a:bodyPr anchorCtr="0" anchor="b" bIns="161800" lIns="161800" spcFirstLastPara="1" rIns="161800" wrap="square" tIns="161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55"/>
              <a:buNone/>
            </a:pPr>
            <a:r>
              <a:rPr lang="en" sz="2655"/>
              <a:t>n = 50,000</a:t>
            </a:r>
            <a:endParaRPr sz="2655"/>
          </a:p>
        </p:txBody>
      </p:sp>
      <p:sp>
        <p:nvSpPr>
          <p:cNvPr id="697" name="Google Shape;697;p67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PERFORMANCE RESULTS</a:t>
            </a:r>
            <a:endParaRPr/>
          </a:p>
        </p:txBody>
      </p:sp>
      <p:pic>
        <p:nvPicPr>
          <p:cNvPr id="698" name="Google Shape;69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00" y="1663675"/>
            <a:ext cx="4628050" cy="3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400" y="1667125"/>
            <a:ext cx="4628050" cy="306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4" name="Google Shape;704;p68"/>
          <p:cNvGrpSpPr/>
          <p:nvPr/>
        </p:nvGrpSpPr>
        <p:grpSpPr>
          <a:xfrm>
            <a:off x="243233" y="1237531"/>
            <a:ext cx="4906694" cy="3653428"/>
            <a:chOff x="243225" y="2826700"/>
            <a:chExt cx="2772300" cy="2064200"/>
          </a:xfrm>
        </p:grpSpPr>
        <p:sp>
          <p:nvSpPr>
            <p:cNvPr id="705" name="Google Shape;705;p68"/>
            <p:cNvSpPr/>
            <p:nvPr/>
          </p:nvSpPr>
          <p:spPr>
            <a:xfrm>
              <a:off x="243225" y="2990100"/>
              <a:ext cx="2772300" cy="19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61800" lIns="161800" spcFirstLastPara="1" rIns="161800" wrap="square" tIns="16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8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706" name="Google Shape;706;p68"/>
            <p:cNvSpPr/>
            <p:nvPr/>
          </p:nvSpPr>
          <p:spPr>
            <a:xfrm>
              <a:off x="1933350" y="2826700"/>
              <a:ext cx="1082100" cy="24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161800" lIns="161800" spcFirstLastPara="1" rIns="161800" wrap="square" tIns="1618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78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07" name="Google Shape;707;p68"/>
          <p:cNvSpPr txBox="1"/>
          <p:nvPr>
            <p:ph idx="5" type="body"/>
          </p:nvPr>
        </p:nvSpPr>
        <p:spPr>
          <a:xfrm>
            <a:off x="5149925" y="2092225"/>
            <a:ext cx="3994200" cy="3420300"/>
          </a:xfrm>
          <a:prstGeom prst="rect">
            <a:avLst/>
          </a:prstGeom>
        </p:spPr>
        <p:txBody>
          <a:bodyPr anchorCtr="0" anchor="t" bIns="148425" lIns="148425" spcFirstLastPara="1" rIns="148425" wrap="square" tIns="148425">
            <a:noAutofit/>
          </a:bodyPr>
          <a:lstStyle/>
          <a:p>
            <a:pPr indent="-318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24"/>
              <a:buChar char="●"/>
            </a:pPr>
            <a:r>
              <a:rPr lang="en" sz="1424"/>
              <a:t>NDCG@5 rewards models that place highly relevant strategies in the top positions of Top-5</a:t>
            </a:r>
            <a:endParaRPr sz="1424"/>
          </a:p>
          <a:p>
            <a:pPr indent="-318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24"/>
              <a:buChar char="●"/>
            </a:pPr>
            <a:r>
              <a:rPr lang="en" sz="1424"/>
              <a:t>At low scale, content-based/hybrid personalization wins</a:t>
            </a:r>
            <a:endParaRPr sz="1424"/>
          </a:p>
          <a:p>
            <a:pPr indent="-31899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24"/>
              <a:buChar char="●"/>
            </a:pPr>
            <a:r>
              <a:rPr lang="en" sz="1424"/>
              <a:t>Non-personalized Global baseline outperforms at high scale</a:t>
            </a:r>
            <a:endParaRPr sz="1424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24"/>
          </a:p>
          <a:p>
            <a:pPr indent="0" lvl="0" marL="0" rtl="0" algn="l">
              <a:spcBef>
                <a:spcPts val="0"/>
              </a:spcBef>
              <a:spcAft>
                <a:spcPts val="1299"/>
              </a:spcAft>
              <a:buSzPts val="1624"/>
              <a:buNone/>
            </a:pPr>
            <a:r>
              <a:rPr i="1" lang="en" sz="1424"/>
              <a:t>→ When having a lot of data, huge platform trends matter more than a single creator's past history</a:t>
            </a:r>
            <a:endParaRPr i="1" sz="1424"/>
          </a:p>
        </p:txBody>
      </p:sp>
      <p:sp>
        <p:nvSpPr>
          <p:cNvPr id="708" name="Google Shape;708;p68"/>
          <p:cNvSpPr txBox="1"/>
          <p:nvPr>
            <p:ph idx="1" type="subTitle"/>
          </p:nvPr>
        </p:nvSpPr>
        <p:spPr>
          <a:xfrm>
            <a:off x="458433" y="1237525"/>
            <a:ext cx="2704200" cy="429600"/>
          </a:xfrm>
          <a:prstGeom prst="rect">
            <a:avLst/>
          </a:prstGeom>
        </p:spPr>
        <p:txBody>
          <a:bodyPr anchorCtr="0" anchor="b" bIns="161800" lIns="161800" spcFirstLastPara="1" rIns="161800" wrap="square" tIns="1618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55"/>
              <a:buNone/>
            </a:pPr>
            <a:r>
              <a:rPr lang="en" sz="2655"/>
              <a:t>NDCG</a:t>
            </a:r>
            <a:endParaRPr sz="2655"/>
          </a:p>
        </p:txBody>
      </p:sp>
      <p:sp>
        <p:nvSpPr>
          <p:cNvPr id="709" name="Google Shape;709;p68"/>
          <p:cNvSpPr txBox="1"/>
          <p:nvPr>
            <p:ph idx="4" type="title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PERFORMANCE RESULTS</a:t>
            </a:r>
            <a:endParaRPr/>
          </a:p>
        </p:txBody>
      </p:sp>
      <p:pic>
        <p:nvPicPr>
          <p:cNvPr id="710" name="Google Shape;71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00" y="1663675"/>
            <a:ext cx="4628050" cy="3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400" y="1667125"/>
            <a:ext cx="4628050" cy="30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7400" y="1663675"/>
            <a:ext cx="4628051" cy="306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68"/>
          <p:cNvSpPr txBox="1"/>
          <p:nvPr>
            <p:ph idx="5" type="body"/>
          </p:nvPr>
        </p:nvSpPr>
        <p:spPr>
          <a:xfrm>
            <a:off x="5359475" y="641575"/>
            <a:ext cx="4575000" cy="1621500"/>
          </a:xfrm>
          <a:prstGeom prst="rect">
            <a:avLst/>
          </a:prstGeom>
        </p:spPr>
        <p:txBody>
          <a:bodyPr anchorCtr="0" anchor="t" bIns="148425" lIns="148425" spcFirstLastPara="1" rIns="148425" wrap="square" tIns="148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24"/>
              <a:buNone/>
            </a:pPr>
            <a:r>
              <a:rPr b="1" lang="en" sz="1324"/>
              <a:t>10k: Hybrid/Content NDCG@5 </a:t>
            </a:r>
            <a:r>
              <a:rPr lang="en" sz="1324"/>
              <a:t>= 0.0325</a:t>
            </a:r>
            <a:endParaRPr sz="1324"/>
          </a:p>
          <a:p>
            <a:pPr indent="0" lvl="0" marL="0" rtl="0" algn="l">
              <a:spcBef>
                <a:spcPts val="1299"/>
              </a:spcBef>
              <a:spcAft>
                <a:spcPts val="0"/>
              </a:spcAft>
              <a:buSzPts val="1624"/>
              <a:buNone/>
            </a:pPr>
            <a:r>
              <a:rPr b="1" lang="en" sz="1324"/>
              <a:t>10k: Hybrid/Content Hit Rate@5</a:t>
            </a:r>
            <a:r>
              <a:rPr lang="en" sz="1324"/>
              <a:t> = 0.0920</a:t>
            </a:r>
            <a:endParaRPr sz="1324"/>
          </a:p>
          <a:p>
            <a:pPr indent="0" lvl="0" marL="0" rtl="0" algn="l">
              <a:spcBef>
                <a:spcPts val="1299"/>
              </a:spcBef>
              <a:spcAft>
                <a:spcPts val="1299"/>
              </a:spcAft>
              <a:buSzPts val="1624"/>
              <a:buNone/>
            </a:pPr>
            <a:r>
              <a:rPr b="1" lang="en" sz="1324"/>
              <a:t>50k: Global NDCG@5</a:t>
            </a:r>
            <a:r>
              <a:rPr lang="en" sz="1324"/>
              <a:t> = 0.0542</a:t>
            </a:r>
            <a:endParaRPr sz="1324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6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descr="Portrait of a woman standing in front of a closed metal gate. " id="719" name="Google Shape;719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3140" l="383" r="12562" t="7836"/>
          <a:stretch/>
        </p:blipFill>
        <p:spPr>
          <a:xfrm>
            <a:off x="744050" y="1723797"/>
            <a:ext cx="3981549" cy="2675901"/>
          </a:xfrm>
          <a:prstGeom prst="rect">
            <a:avLst/>
          </a:prstGeom>
        </p:spPr>
      </p:pic>
      <p:pic>
        <p:nvPicPr>
          <p:cNvPr id="720" name="Google Shape;720;p69"/>
          <p:cNvPicPr preferRelativeResize="0"/>
          <p:nvPr/>
        </p:nvPicPr>
        <p:blipFill rotWithShape="1">
          <a:blip r:embed="rId4">
            <a:alphaModFix/>
          </a:blip>
          <a:srcRect b="33823" l="0" r="3195" t="0"/>
          <a:stretch/>
        </p:blipFill>
        <p:spPr>
          <a:xfrm>
            <a:off x="742950" y="1715650"/>
            <a:ext cx="4043000" cy="285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1" name="Google Shape;721;p69"/>
          <p:cNvGrpSpPr/>
          <p:nvPr/>
        </p:nvGrpSpPr>
        <p:grpSpPr>
          <a:xfrm>
            <a:off x="744013" y="1410850"/>
            <a:ext cx="4294475" cy="2081375"/>
            <a:chOff x="744050" y="1654675"/>
            <a:chExt cx="4043000" cy="2081375"/>
          </a:xfrm>
        </p:grpSpPr>
        <p:grpSp>
          <p:nvGrpSpPr>
            <p:cNvPr id="722" name="Google Shape;722;p69"/>
            <p:cNvGrpSpPr/>
            <p:nvPr/>
          </p:nvGrpSpPr>
          <p:grpSpPr>
            <a:xfrm>
              <a:off x="744050" y="1945050"/>
              <a:ext cx="4043000" cy="1791000"/>
              <a:chOff x="744050" y="1837975"/>
              <a:chExt cx="4043000" cy="1791000"/>
            </a:xfrm>
          </p:grpSpPr>
          <p:sp>
            <p:nvSpPr>
              <p:cNvPr id="723" name="Google Shape;723;p69"/>
              <p:cNvSpPr/>
              <p:nvPr/>
            </p:nvSpPr>
            <p:spPr>
              <a:xfrm>
                <a:off x="1226975" y="2436358"/>
                <a:ext cx="392400" cy="40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724" name="Google Shape;724;p69"/>
              <p:cNvSpPr/>
              <p:nvPr/>
            </p:nvSpPr>
            <p:spPr>
              <a:xfrm>
                <a:off x="744050" y="3236575"/>
                <a:ext cx="741900" cy="392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725" name="Google Shape;725;p69"/>
              <p:cNvSpPr/>
              <p:nvPr/>
            </p:nvSpPr>
            <p:spPr>
              <a:xfrm>
                <a:off x="1486000" y="2351575"/>
                <a:ext cx="765000" cy="885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726" name="Google Shape;726;p69"/>
              <p:cNvSpPr/>
              <p:nvPr/>
            </p:nvSpPr>
            <p:spPr>
              <a:xfrm>
                <a:off x="3617350" y="1837975"/>
                <a:ext cx="1169700" cy="1006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sp>
          <p:nvSpPr>
            <p:cNvPr id="727" name="Google Shape;727;p69"/>
            <p:cNvSpPr/>
            <p:nvPr/>
          </p:nvSpPr>
          <p:spPr>
            <a:xfrm>
              <a:off x="1005100" y="1654675"/>
              <a:ext cx="3713100" cy="900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728" name="Google Shape;728;p69"/>
          <p:cNvSpPr txBox="1"/>
          <p:nvPr>
            <p:ph idx="5" type="title"/>
          </p:nvPr>
        </p:nvSpPr>
        <p:spPr>
          <a:xfrm>
            <a:off x="5333525" y="742950"/>
            <a:ext cx="3810600" cy="44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"/>
              <a:t>@jan_versteegh</a:t>
            </a:r>
            <a:endParaRPr/>
          </a:p>
        </p:txBody>
      </p:sp>
      <p:sp>
        <p:nvSpPr>
          <p:cNvPr id="729" name="Google Shape;729;p69"/>
          <p:cNvSpPr txBox="1"/>
          <p:nvPr>
            <p:ph type="title"/>
          </p:nvPr>
        </p:nvSpPr>
        <p:spPr>
          <a:xfrm>
            <a:off x="1032350" y="737025"/>
            <a:ext cx="3539700" cy="15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300"/>
              <a:t>Niche: </a:t>
            </a:r>
            <a:r>
              <a:rPr lang="en" sz="1300"/>
              <a:t>Family		</a:t>
            </a:r>
            <a:r>
              <a:rPr b="1" i="1" lang="en" sz="1300"/>
              <a:t>Followers:</a:t>
            </a:r>
            <a:r>
              <a:rPr lang="en" sz="1300"/>
              <a:t> 404k</a:t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300"/>
              <a:t>Historical style</a:t>
            </a:r>
            <a:endParaRPr b="1" i="1" sz="1300"/>
          </a:p>
          <a:p>
            <a:pPr indent="-124101" lvl="0" marL="13680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sz="1300"/>
              <a:t>Mostly night posts, video-heavy content, and all organic/non-ad posts. Stronger historical strategies tended to use video, longer captions, and no/few hashtags.</a:t>
            </a:r>
            <a:endParaRPr sz="1300"/>
          </a:p>
        </p:txBody>
      </p:sp>
      <p:sp>
        <p:nvSpPr>
          <p:cNvPr id="730" name="Google Shape;730;p69"/>
          <p:cNvSpPr txBox="1"/>
          <p:nvPr/>
        </p:nvSpPr>
        <p:spPr>
          <a:xfrm>
            <a:off x="4804625" y="1723800"/>
            <a:ext cx="29856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SYSTEM RECOMMENDATION</a:t>
            </a:r>
            <a:endParaRPr sz="15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evening + long_caption + few_hashtags + not_ad + video</a:t>
            </a:r>
            <a:endParaRPr sz="15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31" name="Google Shape;731;p69"/>
          <p:cNvSpPr txBox="1"/>
          <p:nvPr/>
        </p:nvSpPr>
        <p:spPr>
          <a:xfrm>
            <a:off x="4880825" y="3004200"/>
            <a:ext cx="26238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Why it worked</a:t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hybrid recommender ranked this strategy #1. In the held-out test set, this exact strategy appeared as one of the influencer’s top-engagement strategies, so it counted as a successful hit.</a:t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32" name="Google Shape;732;p69"/>
          <p:cNvSpPr txBox="1"/>
          <p:nvPr/>
        </p:nvSpPr>
        <p:spPr>
          <a:xfrm>
            <a:off x="742950" y="4736500"/>
            <a:ext cx="55563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Synthetic benchmark examples generated from real influencer profiles; evaluated with time-based holdout.</a:t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ortrait of a woman standing in front of a closed metal gate. " id="737" name="Google Shape;737;p7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4011" l="3274" r="8246" t="15605"/>
          <a:stretch/>
        </p:blipFill>
        <p:spPr>
          <a:xfrm>
            <a:off x="978875" y="2071975"/>
            <a:ext cx="3761701" cy="2680202"/>
          </a:xfrm>
          <a:prstGeom prst="rect">
            <a:avLst/>
          </a:prstGeom>
        </p:spPr>
      </p:pic>
      <p:sp>
        <p:nvSpPr>
          <p:cNvPr id="738" name="Google Shape;738;p70"/>
          <p:cNvSpPr/>
          <p:nvPr/>
        </p:nvSpPr>
        <p:spPr>
          <a:xfrm>
            <a:off x="956100" y="2038475"/>
            <a:ext cx="363900" cy="36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39" name="Google Shape;739;p70"/>
          <p:cNvSpPr/>
          <p:nvPr/>
        </p:nvSpPr>
        <p:spPr>
          <a:xfrm>
            <a:off x="1311675" y="2038475"/>
            <a:ext cx="363900" cy="8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40" name="Google Shape;740;p70"/>
          <p:cNvSpPr/>
          <p:nvPr/>
        </p:nvSpPr>
        <p:spPr>
          <a:xfrm>
            <a:off x="766175" y="1967875"/>
            <a:ext cx="4187100" cy="288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741" name="Google Shape;741;p70"/>
          <p:cNvSpPr txBox="1"/>
          <p:nvPr>
            <p:ph idx="4" type="title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@mila_jestcafe</a:t>
            </a:r>
            <a:endParaRPr/>
          </a:p>
        </p:txBody>
      </p:sp>
      <p:sp>
        <p:nvSpPr>
          <p:cNvPr id="742" name="Google Shape;742;p70"/>
          <p:cNvSpPr txBox="1"/>
          <p:nvPr>
            <p:ph type="title"/>
          </p:nvPr>
        </p:nvSpPr>
        <p:spPr>
          <a:xfrm>
            <a:off x="4946700" y="471200"/>
            <a:ext cx="30933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Historical Style</a:t>
            </a:r>
            <a:endParaRPr/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Mostly evening posts, image-heavy content, short or long captions, and few/many hashtags. All training posts were organic/non-ad.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System Recommendation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night + long_caption + few_hashtags + not_ad + image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43" name="Google Shape;743;p70"/>
          <p:cNvSpPr txBox="1"/>
          <p:nvPr>
            <p:ph type="title"/>
          </p:nvPr>
        </p:nvSpPr>
        <p:spPr>
          <a:xfrm>
            <a:off x="978875" y="1386275"/>
            <a:ext cx="2265900" cy="16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67"/>
              <a:buNone/>
            </a:pPr>
            <a:r>
              <a:rPr lang="en"/>
              <a:t>Niche: Interior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67"/>
              <a:buNone/>
            </a:pPr>
            <a:r>
              <a:rPr lang="en"/>
              <a:t>Followers: 11.4K        </a:t>
            </a:r>
            <a:endParaRPr/>
          </a:p>
        </p:txBody>
      </p:sp>
      <p:sp>
        <p:nvSpPr>
          <p:cNvPr id="744" name="Google Shape;744;p70"/>
          <p:cNvSpPr txBox="1"/>
          <p:nvPr/>
        </p:nvSpPr>
        <p:spPr>
          <a:xfrm>
            <a:off x="4804625" y="3120150"/>
            <a:ext cx="3006000" cy="12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Why it worked</a:t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recommendation matched a high-performing strategy in the creator’s most recent held-out posts. The model kept the successful organic image format but shifted the strategy toward night posting, a long caption, and fewer hashtags.</a:t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pic>
        <p:nvPicPr>
          <p:cNvPr id="745" name="Google Shape;745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5063" y="2140100"/>
            <a:ext cx="1857375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70"/>
          <p:cNvSpPr txBox="1"/>
          <p:nvPr/>
        </p:nvSpPr>
        <p:spPr>
          <a:xfrm>
            <a:off x="742950" y="4856275"/>
            <a:ext cx="66105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Synthetic benchmark examples generated from real influencer profiles; evaluated with time-based holdout.</a:t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71"/>
          <p:cNvSpPr txBox="1"/>
          <p:nvPr>
            <p:ph type="title"/>
          </p:nvPr>
        </p:nvSpPr>
        <p:spPr>
          <a:xfrm>
            <a:off x="743700" y="743700"/>
            <a:ext cx="4018800" cy="18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5000"/>
              <a:t>Limitations &amp; Next Steps</a:t>
            </a:r>
            <a:endParaRPr sz="5000"/>
          </a:p>
        </p:txBody>
      </p:sp>
      <p:sp>
        <p:nvSpPr>
          <p:cNvPr id="752" name="Google Shape;752;p71"/>
          <p:cNvSpPr txBox="1"/>
          <p:nvPr>
            <p:ph idx="1" type="subTitle"/>
          </p:nvPr>
        </p:nvSpPr>
        <p:spPr>
          <a:xfrm>
            <a:off x="5619075" y="1361675"/>
            <a:ext cx="27819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2. Synthetic Local Data Scale</a:t>
            </a:r>
            <a:endParaRPr/>
          </a:p>
        </p:txBody>
      </p:sp>
      <p:sp>
        <p:nvSpPr>
          <p:cNvPr id="753" name="Google Shape;753;p71"/>
          <p:cNvSpPr txBox="1"/>
          <p:nvPr>
            <p:ph idx="3" type="subTitle"/>
          </p:nvPr>
        </p:nvSpPr>
        <p:spPr>
          <a:xfrm>
            <a:off x="5619075" y="306050"/>
            <a:ext cx="2630400" cy="50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1. Metadata only (no visuals)</a:t>
            </a:r>
            <a:endParaRPr/>
          </a:p>
        </p:txBody>
      </p:sp>
      <p:sp>
        <p:nvSpPr>
          <p:cNvPr id="754" name="Google Shape;754;p71"/>
          <p:cNvSpPr txBox="1"/>
          <p:nvPr>
            <p:ph idx="2" type="subTitle"/>
          </p:nvPr>
        </p:nvSpPr>
        <p:spPr>
          <a:xfrm>
            <a:off x="5619075" y="2693363"/>
            <a:ext cx="2630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3. Correlation vs. Causation</a:t>
            </a:r>
            <a:endParaRPr/>
          </a:p>
        </p:txBody>
      </p:sp>
      <p:sp>
        <p:nvSpPr>
          <p:cNvPr id="755" name="Google Shape;755;p71"/>
          <p:cNvSpPr txBox="1"/>
          <p:nvPr>
            <p:ph idx="4" type="subTitle"/>
          </p:nvPr>
        </p:nvSpPr>
        <p:spPr>
          <a:xfrm>
            <a:off x="5619076" y="1868374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000"/>
              <a:t>Upgrade from batch-processed offline recs to an active system that updates daily to capture instant trends</a:t>
            </a:r>
            <a:endParaRPr sz="1000"/>
          </a:p>
        </p:txBody>
      </p:sp>
      <p:sp>
        <p:nvSpPr>
          <p:cNvPr id="756" name="Google Shape;756;p71"/>
          <p:cNvSpPr txBox="1"/>
          <p:nvPr>
            <p:ph idx="5" type="subTitle"/>
          </p:nvPr>
        </p:nvSpPr>
        <p:spPr>
          <a:xfrm>
            <a:off x="5619075" y="812750"/>
            <a:ext cx="2436300" cy="7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Incorporate pre-trained visual models to analyze image and video features</a:t>
            </a:r>
            <a:endParaRPr sz="1000"/>
          </a:p>
        </p:txBody>
      </p:sp>
      <p:sp>
        <p:nvSpPr>
          <p:cNvPr id="757" name="Google Shape;757;p71"/>
          <p:cNvSpPr txBox="1"/>
          <p:nvPr>
            <p:ph idx="6" type="subTitle"/>
          </p:nvPr>
        </p:nvSpPr>
        <p:spPr>
          <a:xfrm>
            <a:off x="5619076" y="317997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Live A/B testing for the recommended strategies to track actual engagement growth and prove causal impact</a:t>
            </a:r>
            <a:endParaRPr sz="1000"/>
          </a:p>
        </p:txBody>
      </p:sp>
      <p:sp>
        <p:nvSpPr>
          <p:cNvPr id="758" name="Google Shape;758;p71"/>
          <p:cNvSpPr txBox="1"/>
          <p:nvPr>
            <p:ph idx="2" type="subTitle"/>
          </p:nvPr>
        </p:nvSpPr>
        <p:spPr>
          <a:xfrm>
            <a:off x="5619075" y="3817313"/>
            <a:ext cx="2630400" cy="486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4. Sparse matrix</a:t>
            </a:r>
            <a:endParaRPr/>
          </a:p>
        </p:txBody>
      </p:sp>
      <p:sp>
        <p:nvSpPr>
          <p:cNvPr id="759" name="Google Shape;759;p71"/>
          <p:cNvSpPr txBox="1"/>
          <p:nvPr>
            <p:ph idx="6" type="subTitle"/>
          </p:nvPr>
        </p:nvSpPr>
        <p:spPr>
          <a:xfrm>
            <a:off x="5619076" y="4303925"/>
            <a:ext cx="2436300" cy="4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/>
              <a:t>Collaborative filtering struggles when creators have few strategy overlaps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72"/>
          <p:cNvSpPr txBox="1"/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73"/>
          <p:cNvSpPr txBox="1"/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73"/>
          <p:cNvSpPr txBox="1"/>
          <p:nvPr>
            <p:ph idx="3" type="title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73"/>
          <p:cNvSpPr txBox="1"/>
          <p:nvPr>
            <p:ph idx="4" type="title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73"/>
          <p:cNvSpPr txBox="1"/>
          <p:nvPr>
            <p:ph idx="7" type="title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